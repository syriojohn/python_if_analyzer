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8" r:id="rId2"/>
    <p:sldId id="256" r:id="rId3"/>
    <p:sldId id="257" r:id="rId4"/>
    <p:sldId id="261" r:id="rId5"/>
    <p:sldId id="260" r:id="rId6"/>
    <p:sldId id="259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10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952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BD234-A318-8C02-5C2C-5048B243C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09ED1-DDF1-0323-D98C-26E06FB05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865B5-EFA2-426A-F52B-C92F81AD8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3DA33-CF11-39D9-26BF-6CADCFD7E8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22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06E65-98D6-573D-60AB-6CB9CE37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99B63-2836-9EFE-E9AE-A48822D0E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4EB58-3AE9-4595-3039-20D846A6E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9211A-905A-346F-5DDE-AC0388970A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38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354DCE-C61F-CF9D-10A8-7811EA983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36"/>
            <a:ext cx="17935293" cy="989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8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513522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8700" y="342900"/>
            <a:ext cx="169137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b="1" kern="0" spc="-22" dirty="0">
                <a:solidFill>
                  <a:srgbClr val="00AEE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PROOF OF CONCEPT </a:t>
            </a:r>
            <a:r>
              <a:rPr lang="en-US" sz="1800" kern="0" spc="252" dirty="0">
                <a:solidFill>
                  <a:srgbClr val="00AEE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PROCESS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8700" y="685800"/>
            <a:ext cx="16913733" cy="541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450" b="1" kern="0" spc="-22" dirty="0">
                <a:solidFill>
                  <a:srgbClr val="00AEE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PROOF OF CONCEPT </a:t>
            </a:r>
            <a:r>
              <a:rPr lang="en-US" sz="3450" b="1" kern="0" spc="-22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– Pricing Engine Investigation Workflow</a:t>
            </a:r>
            <a:endParaRPr lang="en-US" sz="3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742122"/>
            <a:ext cx="16421100" cy="78971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700" y="2046922"/>
            <a:ext cx="11531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180" dirty="0">
                <a:solidFill>
                  <a:srgbClr val="0070C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INPUT</a:t>
            </a:r>
            <a:endParaRPr lang="en-US" sz="2200" b="1" dirty="0">
              <a:solidFill>
                <a:srgbClr val="0070C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028699" y="3694747"/>
            <a:ext cx="10896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180" dirty="0">
                <a:solidFill>
                  <a:srgbClr val="0070C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CORE</a:t>
            </a:r>
            <a:endParaRPr lang="en-US" sz="2200" b="1" dirty="0">
              <a:solidFill>
                <a:srgbClr val="0070C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028700" y="5742623"/>
            <a:ext cx="18339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180" dirty="0">
                <a:solidFill>
                  <a:srgbClr val="0070C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ANALYSIS</a:t>
            </a:r>
            <a:endParaRPr lang="en-US" sz="2200" b="1" dirty="0">
              <a:solidFill>
                <a:srgbClr val="0070C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028699" y="7695248"/>
            <a:ext cx="211351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180" dirty="0">
                <a:solidFill>
                  <a:srgbClr val="0070C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FINAL OUTPUT</a:t>
            </a:r>
            <a:endParaRPr lang="en-US" sz="2200" b="1" dirty="0">
              <a:solidFill>
                <a:srgbClr val="0070C0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29500" y="1865947"/>
            <a:ext cx="3619500" cy="876300"/>
          </a:xfrm>
          <a:prstGeom prst="roundRect">
            <a:avLst>
              <a:gd name="adj" fmla="val 8696"/>
            </a:avLst>
          </a:prstGeom>
          <a:solidFill>
            <a:srgbClr val="DFF0FA"/>
          </a:solidFill>
          <a:ln w="1905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65932" y="1850708"/>
            <a:ext cx="314663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4D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 Input + QA Log Upload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591044" y="2163128"/>
            <a:ext cx="3296412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004D6E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Trade · Market · Model · Results Data</a:t>
            </a:r>
            <a:endParaRPr lang="en-US" sz="18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D1153BA-183B-6F3D-66FD-AA36A61ADF34}"/>
              </a:ext>
            </a:extLst>
          </p:cNvPr>
          <p:cNvGrpSpPr/>
          <p:nvPr/>
        </p:nvGrpSpPr>
        <p:grpSpPr>
          <a:xfrm>
            <a:off x="7429500" y="3531783"/>
            <a:ext cx="3810000" cy="1338263"/>
            <a:chOff x="7334250" y="3294697"/>
            <a:chExt cx="3810000" cy="1338263"/>
          </a:xfrm>
        </p:grpSpPr>
        <p:sp>
          <p:nvSpPr>
            <p:cNvPr id="13" name="Shape 10"/>
            <p:cNvSpPr/>
            <p:nvPr/>
          </p:nvSpPr>
          <p:spPr>
            <a:xfrm>
              <a:off x="7334250" y="3294697"/>
              <a:ext cx="3810000" cy="1333500"/>
            </a:xfrm>
            <a:prstGeom prst="roundRect">
              <a:avLst>
                <a:gd name="adj" fmla="val 5714"/>
              </a:avLst>
            </a:prstGeom>
            <a:solidFill>
              <a:srgbClr val="FFF3DC"/>
            </a:solidFill>
            <a:ln w="19050">
              <a:solidFill>
                <a:srgbClr val="E8A02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8629491" y="3328035"/>
              <a:ext cx="1219359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800" b="1" dirty="0">
                  <a:solidFill>
                    <a:srgbClr val="6B3D00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POC Core </a:t>
              </a:r>
              <a:endParaRPr lang="en-US" sz="18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7825848" y="3640455"/>
              <a:ext cx="2826804" cy="3352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6B3D00">
                      <a:alpha val="75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BCP Cloud Hosted Service</a:t>
              </a:r>
              <a:endParaRPr lang="en-US" sz="18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7583361" y="3994785"/>
              <a:ext cx="3311619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i="1" dirty="0">
                  <a:solidFill>
                    <a:srgbClr val="6B3D00">
                      <a:alpha val="6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Parses logs and structures data</a:t>
              </a:r>
              <a:endParaRPr lang="en-US" sz="18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7563411" y="4328160"/>
              <a:ext cx="3351679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i="1" kern="0" spc="18" dirty="0">
                  <a:solidFill>
                    <a:srgbClr val="6B3D00">
                      <a:alpha val="65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Pre-defined orchestration</a:t>
              </a:r>
              <a:endParaRPr lang="en-US" sz="18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AE695FA-91D5-E1D9-97E3-869FF9943702}"/>
              </a:ext>
            </a:extLst>
          </p:cNvPr>
          <p:cNvGrpSpPr/>
          <p:nvPr/>
        </p:nvGrpSpPr>
        <p:grpSpPr>
          <a:xfrm>
            <a:off x="3886200" y="5932085"/>
            <a:ext cx="10715625" cy="809625"/>
            <a:chOff x="3886200" y="5981960"/>
            <a:chExt cx="10715625" cy="809625"/>
          </a:xfrm>
        </p:grpSpPr>
        <p:sp>
          <p:nvSpPr>
            <p:cNvPr id="18" name="Shape 15"/>
            <p:cNvSpPr/>
            <p:nvPr/>
          </p:nvSpPr>
          <p:spPr>
            <a:xfrm>
              <a:off x="3886200" y="5981960"/>
              <a:ext cx="2428875" cy="809625"/>
            </a:xfrm>
            <a:prstGeom prst="roundRect">
              <a:avLst>
                <a:gd name="adj" fmla="val 9412"/>
              </a:avLst>
            </a:prstGeom>
            <a:solidFill>
              <a:srgbClr val="EDE7F6"/>
            </a:solidFill>
            <a:ln w="19050">
              <a:solidFill>
                <a:srgbClr val="9575C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6"/>
            <p:cNvSpPr/>
            <p:nvPr/>
          </p:nvSpPr>
          <p:spPr>
            <a:xfrm>
              <a:off x="4141311" y="6082925"/>
              <a:ext cx="1918494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800" b="1" dirty="0">
                  <a:solidFill>
                    <a:srgbClr val="3E1F7A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Market Summary</a:t>
              </a:r>
              <a:endParaRPr lang="en-US" sz="18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4070350" y="6423919"/>
              <a:ext cx="2060575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i="1" kern="0" spc="18" dirty="0">
                  <a:solidFill>
                    <a:srgbClr val="3E1F7A">
                      <a:alpha val="65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AI (LLM reasoning)</a:t>
              </a:r>
              <a:endParaRPr lang="en-US" sz="1800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6648450" y="5981960"/>
              <a:ext cx="2428875" cy="809625"/>
            </a:xfrm>
            <a:prstGeom prst="roundRect">
              <a:avLst>
                <a:gd name="adj" fmla="val 9412"/>
              </a:avLst>
            </a:prstGeom>
            <a:solidFill>
              <a:srgbClr val="EDE7F6"/>
            </a:solidFill>
            <a:ln w="19050">
              <a:solidFill>
                <a:srgbClr val="9575C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/>
            <p:cNvSpPr/>
            <p:nvPr/>
          </p:nvSpPr>
          <p:spPr>
            <a:xfrm>
              <a:off x="6941820" y="6082925"/>
              <a:ext cx="1841976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800" b="1" dirty="0">
                  <a:solidFill>
                    <a:srgbClr val="3E1F7A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Model Summary</a:t>
              </a:r>
              <a:endParaRPr lang="en-US" sz="18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832600" y="6423919"/>
              <a:ext cx="2060575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i="1" kern="0" spc="18" dirty="0">
                  <a:solidFill>
                    <a:srgbClr val="3E1F7A">
                      <a:alpha val="65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AI (LLM reasoning)</a:t>
              </a:r>
              <a:endParaRPr lang="en-US" sz="18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9410700" y="5981960"/>
              <a:ext cx="2428875" cy="809625"/>
            </a:xfrm>
            <a:prstGeom prst="roundRect">
              <a:avLst>
                <a:gd name="adj" fmla="val 9412"/>
              </a:avLst>
            </a:prstGeom>
            <a:solidFill>
              <a:srgbClr val="EDE7F6"/>
            </a:solidFill>
            <a:ln w="19050">
              <a:solidFill>
                <a:srgbClr val="9575C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2"/>
            <p:cNvSpPr/>
            <p:nvPr/>
          </p:nvSpPr>
          <p:spPr>
            <a:xfrm>
              <a:off x="9792970" y="6082925"/>
              <a:ext cx="1664335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800" b="1" dirty="0">
                  <a:solidFill>
                    <a:srgbClr val="3E1F7A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Risk Summary</a:t>
              </a:r>
              <a:endParaRPr lang="en-US" sz="18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9594850" y="6423919"/>
              <a:ext cx="2060575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i="1" kern="0" spc="18" dirty="0">
                  <a:solidFill>
                    <a:srgbClr val="3E1F7A">
                      <a:alpha val="65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AI (LLM reasoning)</a:t>
              </a:r>
              <a:endParaRPr lang="en-US" sz="1800" dirty="0"/>
            </a:p>
          </p:txBody>
        </p:sp>
        <p:sp>
          <p:nvSpPr>
            <p:cNvPr id="27" name="Shape 24"/>
            <p:cNvSpPr/>
            <p:nvPr/>
          </p:nvSpPr>
          <p:spPr>
            <a:xfrm>
              <a:off x="12172950" y="5981960"/>
              <a:ext cx="2428875" cy="809625"/>
            </a:xfrm>
            <a:prstGeom prst="roundRect">
              <a:avLst>
                <a:gd name="adj" fmla="val 9412"/>
              </a:avLst>
            </a:prstGeom>
            <a:solidFill>
              <a:srgbClr val="EDE7F6"/>
            </a:solidFill>
            <a:ln w="19050">
              <a:solidFill>
                <a:srgbClr val="9575C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5"/>
            <p:cNvSpPr/>
            <p:nvPr/>
          </p:nvSpPr>
          <p:spPr>
            <a:xfrm>
              <a:off x="12491720" y="6082925"/>
              <a:ext cx="1791335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800" b="1" dirty="0">
                  <a:solidFill>
                    <a:srgbClr val="3E1F7A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Trade Summary</a:t>
              </a:r>
              <a:endParaRPr lang="en-US" sz="18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12357100" y="6423919"/>
              <a:ext cx="2060575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i="1" kern="0" spc="18" dirty="0">
                  <a:solidFill>
                    <a:srgbClr val="3E1F7A">
                      <a:alpha val="65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AI (LLM reasoning)</a:t>
              </a:r>
              <a:endParaRPr lang="en-US" sz="180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2D255AA-427C-8018-EC1E-A8980F9A601D}"/>
              </a:ext>
            </a:extLst>
          </p:cNvPr>
          <p:cNvGrpSpPr/>
          <p:nvPr/>
        </p:nvGrpSpPr>
        <p:grpSpPr>
          <a:xfrm>
            <a:off x="14744700" y="5899145"/>
            <a:ext cx="2705100" cy="1254130"/>
            <a:chOff x="14744700" y="5417003"/>
            <a:chExt cx="2619375" cy="1233179"/>
          </a:xfrm>
        </p:grpSpPr>
        <p:sp>
          <p:nvSpPr>
            <p:cNvPr id="30" name="Shape 27"/>
            <p:cNvSpPr/>
            <p:nvPr/>
          </p:nvSpPr>
          <p:spPr>
            <a:xfrm>
              <a:off x="14744700" y="5417003"/>
              <a:ext cx="2619375" cy="1233179"/>
            </a:xfrm>
            <a:prstGeom prst="roundRect">
              <a:avLst>
                <a:gd name="adj" fmla="val 9412"/>
              </a:avLst>
            </a:prstGeom>
            <a:solidFill>
              <a:srgbClr val="FDE8F2"/>
            </a:solidFill>
            <a:ln w="19050">
              <a:solidFill>
                <a:srgbClr val="C0609A"/>
              </a:solidFill>
              <a:prstDash val="dash"/>
            </a:ln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15273179" y="5466398"/>
              <a:ext cx="1562417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800" b="1" dirty="0">
                  <a:solidFill>
                    <a:srgbClr val="7A1A52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Diff Summary</a:t>
              </a:r>
              <a:endParaRPr lang="en-US" sz="18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14999494" y="5778817"/>
              <a:ext cx="2109788" cy="72580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7A1A52">
                      <a:alpha val="75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If two logs uploaded</a:t>
              </a:r>
              <a:endParaRPr lang="en-US" sz="18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14934088" y="6142673"/>
              <a:ext cx="2240439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i="1" kern="0" spc="18" dirty="0">
                  <a:solidFill>
                    <a:srgbClr val="7A1A52">
                      <a:alpha val="65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AI (LLM comparison)</a:t>
              </a:r>
              <a:endParaRPr lang="en-US" sz="1800" dirty="0"/>
            </a:p>
          </p:txBody>
        </p:sp>
      </p:grpSp>
      <p:sp>
        <p:nvSpPr>
          <p:cNvPr id="34" name="Shape 31"/>
          <p:cNvSpPr/>
          <p:nvPr/>
        </p:nvSpPr>
        <p:spPr>
          <a:xfrm>
            <a:off x="6134100" y="8128055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DE7F6"/>
          </a:solidFill>
          <a:ln w="19050">
            <a:solidFill>
              <a:srgbClr val="9575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692741" y="8109005"/>
            <a:ext cx="174021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E1F7A"/>
                </a:solidFill>
                <a:latin typeface="-apple-system" pitchFamily="34" charset="0"/>
                <a:ea typeface="-apple-system" pitchFamily="34" charset="-122"/>
              </a:rPr>
              <a:t>Final Summary</a:t>
            </a:r>
          </a:p>
        </p:txBody>
      </p:sp>
      <p:sp>
        <p:nvSpPr>
          <p:cNvPr id="36" name="Text 33"/>
          <p:cNvSpPr/>
          <p:nvPr/>
        </p:nvSpPr>
        <p:spPr>
          <a:xfrm>
            <a:off x="6730524" y="8421425"/>
            <a:ext cx="166465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i="1" kern="0" spc="18" dirty="0">
                <a:solidFill>
                  <a:srgbClr val="3E1F7A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</a:rPr>
              <a:t>Narrative report</a:t>
            </a:r>
          </a:p>
        </p:txBody>
      </p:sp>
      <p:sp>
        <p:nvSpPr>
          <p:cNvPr id="37" name="Text 34"/>
          <p:cNvSpPr/>
          <p:nvPr/>
        </p:nvSpPr>
        <p:spPr>
          <a:xfrm>
            <a:off x="6513354" y="8785280"/>
            <a:ext cx="20988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00" i="1" kern="0" spc="18" dirty="0">
                <a:solidFill>
                  <a:srgbClr val="3E1F7A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</a:rPr>
              <a:t>AI-generated (LLM)</a:t>
            </a:r>
          </a:p>
        </p:txBody>
      </p:sp>
      <p:sp>
        <p:nvSpPr>
          <p:cNvPr id="38" name="Shape 35"/>
          <p:cNvSpPr/>
          <p:nvPr/>
        </p:nvSpPr>
        <p:spPr>
          <a:xfrm>
            <a:off x="9277350" y="8128055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FFF3DC"/>
          </a:solidFill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962833" y="8109005"/>
            <a:ext cx="14863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6B3D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Excel Output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9536906" y="8421425"/>
            <a:ext cx="233838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6B3D00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Structured data export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9992837" y="8785280"/>
            <a:ext cx="14263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i="1" kern="0" spc="18" dirty="0">
                <a:solidFill>
                  <a:srgbClr val="6B3D00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Deterministic</a:t>
            </a:r>
            <a:endParaRPr lang="en-US" sz="18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71E435F-F41D-8D34-5FD9-38F3CCE4F4FA}"/>
              </a:ext>
            </a:extLst>
          </p:cNvPr>
          <p:cNvGrpSpPr/>
          <p:nvPr/>
        </p:nvGrpSpPr>
        <p:grpSpPr>
          <a:xfrm>
            <a:off x="12379395" y="1738365"/>
            <a:ext cx="6627128" cy="1373843"/>
            <a:chOff x="1038804" y="2326621"/>
            <a:chExt cx="6627128" cy="1373843"/>
          </a:xfrm>
        </p:grpSpPr>
        <p:sp>
          <p:nvSpPr>
            <p:cNvPr id="42" name="Shape 39"/>
            <p:cNvSpPr/>
            <p:nvPr/>
          </p:nvSpPr>
          <p:spPr>
            <a:xfrm>
              <a:off x="1038804" y="2326621"/>
              <a:ext cx="5653937" cy="1373843"/>
            </a:xfrm>
            <a:prstGeom prst="roundRect">
              <a:avLst>
                <a:gd name="adj" fmla="val 4499"/>
              </a:avLst>
            </a:prstGeom>
            <a:solidFill>
              <a:srgbClr val="FFFFFF">
                <a:alpha val="95000"/>
              </a:srgbClr>
            </a:solidFill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40"/>
            <p:cNvSpPr/>
            <p:nvPr/>
          </p:nvSpPr>
          <p:spPr>
            <a:xfrm>
              <a:off x="1219779" y="2455049"/>
              <a:ext cx="6446153" cy="31613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kern="0" spc="144" dirty="0">
                  <a:solidFill>
                    <a:srgbClr val="00395D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LEGEND</a:t>
              </a:r>
              <a:endParaRPr lang="en-US" sz="1800" dirty="0"/>
            </a:p>
          </p:txBody>
        </p:sp>
        <p:sp>
          <p:nvSpPr>
            <p:cNvPr id="44" name="Shape 41"/>
            <p:cNvSpPr/>
            <p:nvPr/>
          </p:nvSpPr>
          <p:spPr>
            <a:xfrm>
              <a:off x="1219779" y="2860091"/>
              <a:ext cx="152400" cy="158065"/>
            </a:xfrm>
            <a:prstGeom prst="roundRect">
              <a:avLst>
                <a:gd name="adj" fmla="val 18750"/>
              </a:avLst>
            </a:prstGeom>
            <a:solidFill>
              <a:srgbClr val="EDE7F6"/>
            </a:solidFill>
            <a:ln w="9525">
              <a:solidFill>
                <a:srgbClr val="9575C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42"/>
            <p:cNvSpPr/>
            <p:nvPr/>
          </p:nvSpPr>
          <p:spPr>
            <a:xfrm>
              <a:off x="1467429" y="2820574"/>
              <a:ext cx="5352745" cy="3714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800" b="1" dirty="0">
                  <a:solidFill>
                    <a:srgbClr val="1A2B3A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AI (LLM) </a:t>
              </a:r>
              <a:r>
                <a:rPr lang="en-US" sz="1800" dirty="0">
                  <a:solidFill>
                    <a:srgbClr val="3A4A56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— reasoning, summarization, comparison</a:t>
              </a:r>
              <a:endParaRPr lang="en-US" sz="1800" dirty="0"/>
            </a:p>
          </p:txBody>
        </p:sp>
        <p:sp>
          <p:nvSpPr>
            <p:cNvPr id="46" name="Shape 43"/>
            <p:cNvSpPr/>
            <p:nvPr/>
          </p:nvSpPr>
          <p:spPr>
            <a:xfrm>
              <a:off x="1219779" y="3261182"/>
              <a:ext cx="152400" cy="158065"/>
            </a:xfrm>
            <a:prstGeom prst="roundRect">
              <a:avLst>
                <a:gd name="adj" fmla="val 18750"/>
              </a:avLst>
            </a:prstGeom>
            <a:solidFill>
              <a:srgbClr val="FFF3DC"/>
            </a:solidFill>
            <a:ln w="9525">
              <a:solidFill>
                <a:srgbClr val="E8A02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4"/>
            <p:cNvSpPr/>
            <p:nvPr/>
          </p:nvSpPr>
          <p:spPr>
            <a:xfrm>
              <a:off x="1467429" y="3221665"/>
              <a:ext cx="6191074" cy="3714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800" b="1" dirty="0">
                  <a:solidFill>
                    <a:srgbClr val="1A2B3A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Deterministic </a:t>
              </a:r>
              <a:r>
                <a:rPr lang="en-US" sz="1800" dirty="0">
                  <a:solidFill>
                    <a:srgbClr val="3A4A56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— structured parsing, rule-based processing</a:t>
              </a:r>
              <a:endParaRPr lang="en-US" sz="1800" dirty="0"/>
            </a:p>
          </p:txBody>
        </p:sp>
      </p:grpSp>
      <p:sp>
        <p:nvSpPr>
          <p:cNvPr id="50" name="Shape 47"/>
          <p:cNvSpPr/>
          <p:nvPr/>
        </p:nvSpPr>
        <p:spPr>
          <a:xfrm>
            <a:off x="0" y="9639300"/>
            <a:ext cx="18288000" cy="647700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028700" y="9829800"/>
            <a:ext cx="69115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Note: </a:t>
            </a:r>
            <a:r>
              <a:rPr lang="en-US" sz="1800" i="1" dirty="0">
                <a:solidFill>
                  <a:srgbClr val="A8C8D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AI-driven investigation layer on top of pricing engine outputs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5473680" y="9829800"/>
            <a:ext cx="20523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FFFF">
                    <a:alpha val="3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CONFIDENTIAL</a:t>
            </a:r>
            <a:endParaRPr lang="en-US" sz="1800" dirty="0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C18D4793-D4D3-396C-90C4-93E585A18F7D}"/>
              </a:ext>
            </a:extLst>
          </p:cNvPr>
          <p:cNvSpPr/>
          <p:nvPr/>
        </p:nvSpPr>
        <p:spPr>
          <a:xfrm>
            <a:off x="7833377" y="6946272"/>
            <a:ext cx="2643158" cy="648866"/>
          </a:xfrm>
          <a:prstGeom prst="roundRect">
            <a:avLst>
              <a:gd name="adj" fmla="val 9412"/>
            </a:avLst>
          </a:prstGeom>
          <a:solidFill>
            <a:srgbClr val="EDE7F6"/>
          </a:solidFill>
          <a:ln w="19050">
            <a:solidFill>
              <a:srgbClr val="9575CD"/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F17EA1DC-1CE3-B7D6-B57A-CC08546C2BF8}"/>
              </a:ext>
            </a:extLst>
          </p:cNvPr>
          <p:cNvSpPr/>
          <p:nvPr/>
        </p:nvSpPr>
        <p:spPr>
          <a:xfrm>
            <a:off x="8339657" y="6907930"/>
            <a:ext cx="1496788" cy="319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 err="1">
                <a:solidFill>
                  <a:srgbClr val="3E1F7A"/>
                </a:solidFill>
                <a:latin typeface="-apple-system" pitchFamily="34" charset="0"/>
                <a:ea typeface="-apple-system" pitchFamily="34" charset="-122"/>
              </a:rPr>
              <a:t>QuantBot</a:t>
            </a:r>
            <a:endParaRPr lang="en-US" sz="1700" b="1" dirty="0">
              <a:solidFill>
                <a:srgbClr val="3E1F7A"/>
              </a:solidFill>
              <a:latin typeface="-apple-system" pitchFamily="34" charset="0"/>
              <a:ea typeface="-apple-system" pitchFamily="34" charset="-122"/>
            </a:endParaRPr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221C475E-49CE-0ACE-D894-D888D2D09234}"/>
              </a:ext>
            </a:extLst>
          </p:cNvPr>
          <p:cNvSpPr/>
          <p:nvPr/>
        </p:nvSpPr>
        <p:spPr>
          <a:xfrm>
            <a:off x="7944466" y="7169249"/>
            <a:ext cx="2399068" cy="400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i="1" kern="0" spc="18" dirty="0">
                <a:solidFill>
                  <a:srgbClr val="3E1F7A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</a:rPr>
              <a:t>QA Wiki query (AI LLM)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690688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8700" y="419100"/>
            <a:ext cx="169137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AEE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CAPABILITY FRAMEWORK · PRICING &amp; RISK 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8700" y="762000"/>
            <a:ext cx="16913733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750" b="1" kern="0" spc="-22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Where </a:t>
            </a:r>
            <a:r>
              <a:rPr lang="en-US" sz="3750" b="1" kern="0" spc="-22" dirty="0">
                <a:solidFill>
                  <a:srgbClr val="00AEE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(LLM) </a:t>
            </a:r>
            <a:r>
              <a:rPr lang="en-US" sz="3750" b="1" kern="0" spc="-22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Adds Value in Pricing Investigations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1028700" y="2362200"/>
            <a:ext cx="2955766" cy="28575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700" y="1957388"/>
            <a:ext cx="281583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B7C8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AREA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984466" y="2362200"/>
            <a:ext cx="6732746" cy="28575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13066" y="1957388"/>
            <a:ext cx="647752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A6B3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WHAT OPUS 4.6 CAN DO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717212" y="2362200"/>
            <a:ext cx="6732587" cy="28575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45812" y="1957388"/>
            <a:ext cx="647736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9B202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✗ WHAT IT CANNOT RELIABLY DO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28700" y="3488055"/>
            <a:ext cx="16421100" cy="9525"/>
          </a:xfrm>
          <a:prstGeom prst="rect">
            <a:avLst/>
          </a:prstGeom>
          <a:solidFill>
            <a:srgbClr val="D6E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8700" y="2390775"/>
            <a:ext cx="2955766" cy="1106805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8700" y="278701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F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3" y="2867978"/>
            <a:ext cx="161925" cy="16192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6850" y="2806065"/>
            <a:ext cx="17006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0395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 Analysis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3984466" y="2390775"/>
            <a:ext cx="6732746" cy="1106805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213066" y="2600325"/>
            <a:ext cx="6477528" cy="725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A5C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Analyze large financial datasets, logs, and spreadsheets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10717212" y="2390775"/>
            <a:ext cx="6732587" cy="1106805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945812" y="2600325"/>
            <a:ext cx="6477365" cy="725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B0BEC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028700" y="4298633"/>
            <a:ext cx="16421100" cy="9525"/>
          </a:xfrm>
          <a:prstGeom prst="rect">
            <a:avLst/>
          </a:prstGeom>
          <a:solidFill>
            <a:srgbClr val="D6E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28700" y="3740944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F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663" y="3821906"/>
            <a:ext cx="161925" cy="16192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6850" y="3759994"/>
            <a:ext cx="160353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0395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Investigation</a:t>
            </a:r>
            <a:endParaRPr lang="en-US" sz="1950" dirty="0"/>
          </a:p>
        </p:txBody>
      </p:sp>
      <p:sp>
        <p:nvSpPr>
          <p:cNvPr id="24" name="Text 20"/>
          <p:cNvSpPr/>
          <p:nvPr/>
        </p:nvSpPr>
        <p:spPr>
          <a:xfrm>
            <a:off x="4213066" y="3707130"/>
            <a:ext cx="6477528" cy="42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A5C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Suggest likely causes of discrepancies</a:t>
            </a:r>
            <a:endParaRPr lang="en-US" sz="1950" dirty="0"/>
          </a:p>
        </p:txBody>
      </p:sp>
      <p:sp>
        <p:nvSpPr>
          <p:cNvPr id="25" name="Text 21"/>
          <p:cNvSpPr/>
          <p:nvPr/>
        </p:nvSpPr>
        <p:spPr>
          <a:xfrm>
            <a:off x="10945812" y="3707130"/>
            <a:ext cx="6477365" cy="42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8B1A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Prove the root cause numerically</a:t>
            </a:r>
            <a:endParaRPr lang="en-US" sz="1950" dirty="0"/>
          </a:p>
        </p:txBody>
      </p:sp>
      <p:sp>
        <p:nvSpPr>
          <p:cNvPr id="26" name="Shape 22"/>
          <p:cNvSpPr/>
          <p:nvPr/>
        </p:nvSpPr>
        <p:spPr>
          <a:xfrm>
            <a:off x="1028700" y="5109210"/>
            <a:ext cx="16421100" cy="9525"/>
          </a:xfrm>
          <a:prstGeom prst="rect">
            <a:avLst/>
          </a:prstGeom>
          <a:solidFill>
            <a:srgbClr val="D6E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1028700" y="4308157"/>
            <a:ext cx="2955766" cy="810577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028700" y="4551521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F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663" y="4632484"/>
            <a:ext cx="161925" cy="16192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466850" y="4570571"/>
            <a:ext cx="152114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0395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Comparison</a:t>
            </a:r>
            <a:endParaRPr lang="en-US" sz="1950" dirty="0"/>
          </a:p>
        </p:txBody>
      </p:sp>
      <p:sp>
        <p:nvSpPr>
          <p:cNvPr id="31" name="Shape 26"/>
          <p:cNvSpPr/>
          <p:nvPr/>
        </p:nvSpPr>
        <p:spPr>
          <a:xfrm>
            <a:off x="3984466" y="4308157"/>
            <a:ext cx="6732746" cy="810577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4213066" y="4517707"/>
            <a:ext cx="6477528" cy="429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A5C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Compare systems / runs and highlight differences</a:t>
            </a:r>
            <a:endParaRPr lang="en-US" sz="1950" dirty="0"/>
          </a:p>
        </p:txBody>
      </p:sp>
      <p:sp>
        <p:nvSpPr>
          <p:cNvPr id="33" name="Shape 28"/>
          <p:cNvSpPr/>
          <p:nvPr/>
        </p:nvSpPr>
        <p:spPr>
          <a:xfrm>
            <a:off x="10717212" y="4308157"/>
            <a:ext cx="6732587" cy="810577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10945812" y="4517707"/>
            <a:ext cx="6477365" cy="429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8B1A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Guarantee exact reconciliation</a:t>
            </a:r>
            <a:endParaRPr lang="en-US" sz="1950" dirty="0"/>
          </a:p>
        </p:txBody>
      </p:sp>
      <p:sp>
        <p:nvSpPr>
          <p:cNvPr id="35" name="Shape 30"/>
          <p:cNvSpPr/>
          <p:nvPr/>
        </p:nvSpPr>
        <p:spPr>
          <a:xfrm>
            <a:off x="1028700" y="5919788"/>
            <a:ext cx="16421100" cy="9525"/>
          </a:xfrm>
          <a:prstGeom prst="rect">
            <a:avLst/>
          </a:prstGeom>
          <a:solidFill>
            <a:srgbClr val="D6E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1028700" y="5362099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F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663" y="5443061"/>
            <a:ext cx="161925" cy="161925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466850" y="5381149"/>
            <a:ext cx="13423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0395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Reasoning</a:t>
            </a:r>
            <a:endParaRPr lang="en-US" sz="1950" dirty="0"/>
          </a:p>
        </p:txBody>
      </p:sp>
      <p:sp>
        <p:nvSpPr>
          <p:cNvPr id="39" name="Text 33"/>
          <p:cNvSpPr/>
          <p:nvPr/>
        </p:nvSpPr>
        <p:spPr>
          <a:xfrm>
            <a:off x="4213066" y="5328285"/>
            <a:ext cx="6477528" cy="42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A5C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Perform multi-step financial reasoning</a:t>
            </a:r>
            <a:endParaRPr lang="en-US" sz="1950" dirty="0"/>
          </a:p>
        </p:txBody>
      </p:sp>
      <p:sp>
        <p:nvSpPr>
          <p:cNvPr id="40" name="Text 34"/>
          <p:cNvSpPr/>
          <p:nvPr/>
        </p:nvSpPr>
        <p:spPr>
          <a:xfrm>
            <a:off x="10945812" y="5328285"/>
            <a:ext cx="6477365" cy="42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8B1A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Ensure deterministic correctness</a:t>
            </a:r>
            <a:endParaRPr lang="en-US" sz="1950" dirty="0"/>
          </a:p>
        </p:txBody>
      </p:sp>
      <p:sp>
        <p:nvSpPr>
          <p:cNvPr id="41" name="Shape 35"/>
          <p:cNvSpPr/>
          <p:nvPr/>
        </p:nvSpPr>
        <p:spPr>
          <a:xfrm>
            <a:off x="1028700" y="6730365"/>
            <a:ext cx="16421100" cy="9525"/>
          </a:xfrm>
          <a:prstGeom prst="rect">
            <a:avLst/>
          </a:prstGeom>
          <a:solidFill>
            <a:srgbClr val="D6E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1028700" y="5929313"/>
            <a:ext cx="2955766" cy="810578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1028700" y="6172676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F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663" y="6253639"/>
            <a:ext cx="161925" cy="161925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1466850" y="6191726"/>
            <a:ext cx="14798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0395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Explanation</a:t>
            </a:r>
            <a:endParaRPr lang="en-US" sz="1950" dirty="0"/>
          </a:p>
        </p:txBody>
      </p:sp>
      <p:sp>
        <p:nvSpPr>
          <p:cNvPr id="46" name="Shape 39"/>
          <p:cNvSpPr/>
          <p:nvPr/>
        </p:nvSpPr>
        <p:spPr>
          <a:xfrm>
            <a:off x="3984466" y="5929313"/>
            <a:ext cx="6732746" cy="810578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4213066" y="6138863"/>
            <a:ext cx="6477528" cy="42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A5C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Generate clear summaries for traders and stakeholders</a:t>
            </a:r>
            <a:endParaRPr lang="en-US" sz="1950" dirty="0"/>
          </a:p>
        </p:txBody>
      </p:sp>
      <p:sp>
        <p:nvSpPr>
          <p:cNvPr id="48" name="Shape 41"/>
          <p:cNvSpPr/>
          <p:nvPr/>
        </p:nvSpPr>
        <p:spPr>
          <a:xfrm>
            <a:off x="10717212" y="5929313"/>
            <a:ext cx="6732587" cy="810578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10945812" y="6138863"/>
            <a:ext cx="6477365" cy="42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B0BEC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950" dirty="0"/>
          </a:p>
        </p:txBody>
      </p:sp>
      <p:sp>
        <p:nvSpPr>
          <p:cNvPr id="50" name="Shape 43"/>
          <p:cNvSpPr/>
          <p:nvPr/>
        </p:nvSpPr>
        <p:spPr>
          <a:xfrm>
            <a:off x="1028700" y="7540942"/>
            <a:ext cx="16421100" cy="9525"/>
          </a:xfrm>
          <a:prstGeom prst="rect">
            <a:avLst/>
          </a:prstGeom>
          <a:solidFill>
            <a:srgbClr val="D6E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4"/>
          <p:cNvSpPr/>
          <p:nvPr/>
        </p:nvSpPr>
        <p:spPr>
          <a:xfrm>
            <a:off x="1028700" y="6983254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F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663" y="7064216"/>
            <a:ext cx="161925" cy="161925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1466850" y="7002304"/>
            <a:ext cx="13147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0395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Cashflows</a:t>
            </a:r>
            <a:endParaRPr lang="en-US" sz="1950" dirty="0"/>
          </a:p>
        </p:txBody>
      </p:sp>
      <p:sp>
        <p:nvSpPr>
          <p:cNvPr id="54" name="Text 46"/>
          <p:cNvSpPr/>
          <p:nvPr/>
        </p:nvSpPr>
        <p:spPr>
          <a:xfrm>
            <a:off x="4213066" y="6949440"/>
            <a:ext cx="6477528" cy="429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A5C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Understand cashflow logic conceptually</a:t>
            </a:r>
            <a:endParaRPr lang="en-US" sz="1950" dirty="0"/>
          </a:p>
        </p:txBody>
      </p:sp>
      <p:sp>
        <p:nvSpPr>
          <p:cNvPr id="55" name="Text 47"/>
          <p:cNvSpPr/>
          <p:nvPr/>
        </p:nvSpPr>
        <p:spPr>
          <a:xfrm>
            <a:off x="10945812" y="6949440"/>
            <a:ext cx="6477365" cy="429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8B1A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Generate exact payment schedules</a:t>
            </a:r>
            <a:endParaRPr lang="en-US" sz="1950" dirty="0"/>
          </a:p>
        </p:txBody>
      </p:sp>
      <p:sp>
        <p:nvSpPr>
          <p:cNvPr id="56" name="Shape 48"/>
          <p:cNvSpPr/>
          <p:nvPr/>
        </p:nvSpPr>
        <p:spPr>
          <a:xfrm>
            <a:off x="1028700" y="8351520"/>
            <a:ext cx="16421100" cy="9525"/>
          </a:xfrm>
          <a:prstGeom prst="rect">
            <a:avLst/>
          </a:prstGeom>
          <a:solidFill>
            <a:srgbClr val="D6E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49"/>
          <p:cNvSpPr/>
          <p:nvPr/>
        </p:nvSpPr>
        <p:spPr>
          <a:xfrm>
            <a:off x="1028700" y="7550468"/>
            <a:ext cx="2955766" cy="810578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0"/>
          <p:cNvSpPr/>
          <p:nvPr/>
        </p:nvSpPr>
        <p:spPr>
          <a:xfrm>
            <a:off x="1028700" y="7793831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F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9663" y="7874794"/>
            <a:ext cx="161925" cy="161925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1466850" y="7812881"/>
            <a:ext cx="19619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0395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Pricing / Greeks</a:t>
            </a:r>
            <a:endParaRPr lang="en-US" sz="1950" dirty="0"/>
          </a:p>
        </p:txBody>
      </p:sp>
      <p:sp>
        <p:nvSpPr>
          <p:cNvPr id="61" name="Shape 52"/>
          <p:cNvSpPr/>
          <p:nvPr/>
        </p:nvSpPr>
        <p:spPr>
          <a:xfrm>
            <a:off x="3984466" y="7550468"/>
            <a:ext cx="6732746" cy="810578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3"/>
          <p:cNvSpPr/>
          <p:nvPr/>
        </p:nvSpPr>
        <p:spPr>
          <a:xfrm>
            <a:off x="4213066" y="7760018"/>
            <a:ext cx="6477528" cy="42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A5C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Reason about drivers of PV changes</a:t>
            </a:r>
            <a:endParaRPr lang="en-US" sz="1950" dirty="0"/>
          </a:p>
        </p:txBody>
      </p:sp>
      <p:sp>
        <p:nvSpPr>
          <p:cNvPr id="63" name="Shape 54"/>
          <p:cNvSpPr/>
          <p:nvPr/>
        </p:nvSpPr>
        <p:spPr>
          <a:xfrm>
            <a:off x="10717212" y="7550468"/>
            <a:ext cx="6732587" cy="810578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5"/>
          <p:cNvSpPr/>
          <p:nvPr/>
        </p:nvSpPr>
        <p:spPr>
          <a:xfrm>
            <a:off x="10945812" y="7760018"/>
            <a:ext cx="6477365" cy="42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8B1A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Compute exact PV, Delta, or Vega</a:t>
            </a:r>
            <a:endParaRPr lang="en-US" sz="1950" dirty="0"/>
          </a:p>
        </p:txBody>
      </p:sp>
      <p:sp>
        <p:nvSpPr>
          <p:cNvPr id="65" name="Shape 56"/>
          <p:cNvSpPr/>
          <p:nvPr/>
        </p:nvSpPr>
        <p:spPr>
          <a:xfrm>
            <a:off x="1028700" y="8604409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F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9663" y="8685371"/>
            <a:ext cx="161925" cy="161925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1466850" y="8623459"/>
            <a:ext cx="190611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0395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 of Truth</a:t>
            </a:r>
            <a:endParaRPr lang="en-US" sz="1950" dirty="0"/>
          </a:p>
        </p:txBody>
      </p:sp>
      <p:sp>
        <p:nvSpPr>
          <p:cNvPr id="68" name="Text 58"/>
          <p:cNvSpPr/>
          <p:nvPr/>
        </p:nvSpPr>
        <p:spPr>
          <a:xfrm>
            <a:off x="4213066" y="8570595"/>
            <a:ext cx="6477528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A5C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Assist and accelerate the investigation process</a:t>
            </a:r>
            <a:endParaRPr lang="en-US" sz="1950" dirty="0"/>
          </a:p>
        </p:txBody>
      </p:sp>
      <p:sp>
        <p:nvSpPr>
          <p:cNvPr id="69" name="Text 59"/>
          <p:cNvSpPr/>
          <p:nvPr/>
        </p:nvSpPr>
        <p:spPr>
          <a:xfrm>
            <a:off x="10945812" y="8570595"/>
            <a:ext cx="6477365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8B1A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Replace a validated pricing engine</a:t>
            </a:r>
            <a:endParaRPr lang="en-US" sz="1950" dirty="0"/>
          </a:p>
        </p:txBody>
      </p:sp>
      <p:sp>
        <p:nvSpPr>
          <p:cNvPr id="70" name="Shape 60"/>
          <p:cNvSpPr/>
          <p:nvPr/>
        </p:nvSpPr>
        <p:spPr>
          <a:xfrm>
            <a:off x="0" y="9572625"/>
            <a:ext cx="18288000" cy="714375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1"/>
          <p:cNvSpPr/>
          <p:nvPr/>
        </p:nvSpPr>
        <p:spPr>
          <a:xfrm>
            <a:off x="1028700" y="9782175"/>
            <a:ext cx="115976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Guiding principle: </a:t>
            </a:r>
            <a:r>
              <a:rPr lang="en-US" sz="1950" i="1" dirty="0">
                <a:solidFill>
                  <a:srgbClr val="A8C8D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 AI for investigation and explanation — not for deterministic pricing calculations</a:t>
            </a:r>
            <a:endParaRPr lang="en-US" sz="1950" dirty="0"/>
          </a:p>
        </p:txBody>
      </p:sp>
      <p:sp>
        <p:nvSpPr>
          <p:cNvPr id="72" name="Shape 62"/>
          <p:cNvSpPr/>
          <p:nvPr/>
        </p:nvSpPr>
        <p:spPr>
          <a:xfrm>
            <a:off x="15311755" y="9825038"/>
            <a:ext cx="9525" cy="2095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3"/>
          <p:cNvSpPr/>
          <p:nvPr/>
        </p:nvSpPr>
        <p:spPr>
          <a:xfrm>
            <a:off x="15473680" y="9796463"/>
            <a:ext cx="20523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FFFF">
                    <a:alpha val="4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CONFIDENTIAL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9754E-CE08-3FEB-C740-96A56D658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DD7949-C503-3586-09D0-81AFCA41503C}"/>
              </a:ext>
            </a:extLst>
          </p:cNvPr>
          <p:cNvSpPr/>
          <p:nvPr/>
        </p:nvSpPr>
        <p:spPr>
          <a:xfrm>
            <a:off x="0" y="0"/>
            <a:ext cx="18288000" cy="1380172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C869C0-ECCD-A4D5-9133-FAB04FD84D07}"/>
              </a:ext>
            </a:extLst>
          </p:cNvPr>
          <p:cNvSpPr/>
          <p:nvPr/>
        </p:nvSpPr>
        <p:spPr>
          <a:xfrm>
            <a:off x="1028700" y="285750"/>
            <a:ext cx="169137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AEE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POC · TARGET ARCHITECTURE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07B370-E257-1F37-EBDD-4316A1555E7C}"/>
              </a:ext>
            </a:extLst>
          </p:cNvPr>
          <p:cNvSpPr/>
          <p:nvPr/>
        </p:nvSpPr>
        <p:spPr>
          <a:xfrm>
            <a:off x="1028700" y="609600"/>
            <a:ext cx="16913733" cy="541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450" b="1" kern="0" spc="-22" dirty="0">
                <a:solidFill>
                  <a:srgbClr val="00AEE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POC </a:t>
            </a:r>
            <a:r>
              <a:rPr lang="en-US" sz="3450" b="1" kern="0" spc="-22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Target State: Agentic Validation Workflow</a:t>
            </a:r>
            <a:endParaRPr lang="en-US" sz="345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4A49091-F385-D44B-6921-B9879AB06C46}"/>
              </a:ext>
            </a:extLst>
          </p:cNvPr>
          <p:cNvGrpSpPr/>
          <p:nvPr/>
        </p:nvGrpSpPr>
        <p:grpSpPr>
          <a:xfrm>
            <a:off x="762000" y="4895874"/>
            <a:ext cx="16192500" cy="6096000"/>
            <a:chOff x="1047750" y="2480786"/>
            <a:chExt cx="16192500" cy="6096000"/>
          </a:xfrm>
        </p:grpSpPr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34A893C6-FBAF-8900-1DAE-0ABAE72BF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7750" y="2480786"/>
              <a:ext cx="16192500" cy="6096000"/>
            </a:xfrm>
            <a:prstGeom prst="rect">
              <a:avLst/>
            </a:prstGeom>
          </p:spPr>
        </p:pic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618C214F-551A-AA00-2493-D6EA57F51C95}"/>
                </a:ext>
              </a:extLst>
            </p:cNvPr>
            <p:cNvSpPr/>
            <p:nvPr/>
          </p:nvSpPr>
          <p:spPr>
            <a:xfrm>
              <a:off x="1333500" y="4481036"/>
              <a:ext cx="1905000" cy="1143000"/>
            </a:xfrm>
            <a:prstGeom prst="roundRect">
              <a:avLst>
                <a:gd name="adj" fmla="val 7500"/>
              </a:avLst>
            </a:prstGeom>
            <a:solidFill>
              <a:srgbClr val="DFF0FA"/>
            </a:solidFill>
            <a:ln w="19050">
              <a:solidFill>
                <a:srgbClr val="00AEEF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A730EB30-CCF5-5197-A82F-BB729CFCC642}"/>
                </a:ext>
              </a:extLst>
            </p:cNvPr>
            <p:cNvSpPr/>
            <p:nvPr/>
          </p:nvSpPr>
          <p:spPr>
            <a:xfrm>
              <a:off x="1238248" y="4582953"/>
              <a:ext cx="2000252" cy="8286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950" b="1" dirty="0">
                  <a:solidFill>
                    <a:srgbClr val="004D6E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Logs + User Input</a:t>
              </a:r>
              <a:endParaRPr lang="en-US" sz="195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CC1EB4D0-8DEA-B9BB-3961-28144F32821F}"/>
                </a:ext>
              </a:extLst>
            </p:cNvPr>
            <p:cNvSpPr/>
            <p:nvPr/>
          </p:nvSpPr>
          <p:spPr>
            <a:xfrm>
              <a:off x="1548924" y="5076349"/>
              <a:ext cx="1474152" cy="3352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004D6E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QA input data</a:t>
              </a:r>
              <a:endParaRPr lang="en-US" sz="1800" dirty="0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772B48BE-38EB-CE2A-81C8-74BA3E667731}"/>
                </a:ext>
              </a:extLst>
            </p:cNvPr>
            <p:cNvSpPr/>
            <p:nvPr/>
          </p:nvSpPr>
          <p:spPr>
            <a:xfrm>
              <a:off x="3619500" y="4481036"/>
              <a:ext cx="1905000" cy="1143000"/>
            </a:xfrm>
            <a:prstGeom prst="roundRect">
              <a:avLst>
                <a:gd name="adj" fmla="val 7500"/>
              </a:avLst>
            </a:prstGeom>
            <a:solidFill>
              <a:srgbClr val="EDE7F6"/>
            </a:solidFill>
            <a:ln w="19050">
              <a:solidFill>
                <a:srgbClr val="7E57C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C4CC4B41-A54A-1B48-1407-E97285AAAFFE}"/>
                </a:ext>
              </a:extLst>
            </p:cNvPr>
            <p:cNvSpPr/>
            <p:nvPr/>
          </p:nvSpPr>
          <p:spPr>
            <a:xfrm>
              <a:off x="3921601" y="4582954"/>
              <a:ext cx="1300798" cy="3352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950" b="1" dirty="0">
                  <a:solidFill>
                    <a:srgbClr val="3E1F7A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Agentic AI</a:t>
              </a:r>
              <a:endParaRPr lang="en-US" sz="1950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A9E9309E-78AD-AA9E-3C30-8CF4E2FFD5D1}"/>
                </a:ext>
              </a:extLst>
            </p:cNvPr>
            <p:cNvSpPr/>
            <p:nvPr/>
          </p:nvSpPr>
          <p:spPr>
            <a:xfrm>
              <a:off x="3714750" y="4927759"/>
              <a:ext cx="1714500" cy="632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3E1F7A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plans and selects checks</a:t>
              </a:r>
              <a:endParaRPr lang="en-US" sz="1800" dirty="0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BAE6B7E5-7D15-E66B-08D4-10C6FAC95F23}"/>
                </a:ext>
              </a:extLst>
            </p:cNvPr>
            <p:cNvSpPr/>
            <p:nvPr/>
          </p:nvSpPr>
          <p:spPr>
            <a:xfrm>
              <a:off x="5905500" y="4481036"/>
              <a:ext cx="1905000" cy="1143000"/>
            </a:xfrm>
            <a:prstGeom prst="roundRect">
              <a:avLst>
                <a:gd name="adj" fmla="val 7500"/>
              </a:avLst>
            </a:prstGeom>
            <a:solidFill>
              <a:srgbClr val="E3EDF5"/>
            </a:solidFill>
            <a:ln w="19050">
              <a:solidFill>
                <a:srgbClr val="4A7BA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4B67F830-806B-B2AC-6EDA-C8FCC6A34D3E}"/>
                </a:ext>
              </a:extLst>
            </p:cNvPr>
            <p:cNvSpPr/>
            <p:nvPr/>
          </p:nvSpPr>
          <p:spPr>
            <a:xfrm>
              <a:off x="6262053" y="4434364"/>
              <a:ext cx="1191736" cy="632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950" b="1" dirty="0">
                  <a:solidFill>
                    <a:srgbClr val="1A3A5C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Tools &amp; Checkers</a:t>
              </a:r>
              <a:endParaRPr lang="en-US" sz="1950" dirty="0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BF1BD473-5162-DE55-69D0-7BFF0C6BF22F}"/>
                </a:ext>
              </a:extLst>
            </p:cNvPr>
            <p:cNvSpPr/>
            <p:nvPr/>
          </p:nvSpPr>
          <p:spPr>
            <a:xfrm>
              <a:off x="6000750" y="5076349"/>
              <a:ext cx="1714500" cy="632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1A3A5C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deterministic validators</a:t>
              </a:r>
              <a:endParaRPr lang="en-US" sz="18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F8D97B51-BA1D-ABA8-EA74-690669A961A0}"/>
                </a:ext>
              </a:extLst>
            </p:cNvPr>
            <p:cNvSpPr/>
            <p:nvPr/>
          </p:nvSpPr>
          <p:spPr>
            <a:xfrm>
              <a:off x="8191500" y="4481036"/>
              <a:ext cx="1905000" cy="1143000"/>
            </a:xfrm>
            <a:prstGeom prst="roundRect">
              <a:avLst>
                <a:gd name="adj" fmla="val 7500"/>
              </a:avLst>
            </a:prstGeom>
            <a:solidFill>
              <a:srgbClr val="F0F4F8"/>
            </a:solidFill>
            <a:ln w="19050">
              <a:solidFill>
                <a:srgbClr val="7890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EE4C5CE4-7B5C-A93E-4C0A-BA208DFE57F7}"/>
                </a:ext>
              </a:extLst>
            </p:cNvPr>
            <p:cNvSpPr/>
            <p:nvPr/>
          </p:nvSpPr>
          <p:spPr>
            <a:xfrm>
              <a:off x="8286750" y="4637384"/>
              <a:ext cx="1674655" cy="92283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950" b="1" dirty="0">
                  <a:solidFill>
                    <a:srgbClr val="2C3E50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Evidence</a:t>
              </a:r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950" b="1" dirty="0">
                  <a:solidFill>
                    <a:srgbClr val="2C3E50"/>
                  </a:solidFill>
                  <a:latin typeface="-apple-system" pitchFamily="34" charset="0"/>
                  <a:ea typeface="-apple-system" pitchFamily="34" charset="-122"/>
                </a:rPr>
                <a:t>(Deterministic)</a:t>
              </a:r>
              <a:endParaRPr lang="en-US" sz="1950" dirty="0"/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F3B955E6-3A06-096C-901B-2B42385B91B6}"/>
                </a:ext>
              </a:extLst>
            </p:cNvPr>
            <p:cNvSpPr/>
            <p:nvPr/>
          </p:nvSpPr>
          <p:spPr>
            <a:xfrm>
              <a:off x="8286750" y="4927759"/>
              <a:ext cx="1714500" cy="632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endParaRPr lang="en-US" sz="1800" dirty="0"/>
            </a:p>
          </p:txBody>
        </p:sp>
        <p:sp>
          <p:nvSpPr>
            <p:cNvPr id="18" name="Shape 15">
              <a:extLst>
                <a:ext uri="{FF2B5EF4-FFF2-40B4-BE49-F238E27FC236}">
                  <a16:creationId xmlns:a16="http://schemas.microsoft.com/office/drawing/2014/main" id="{D72CD306-E3A0-5543-7866-CE35774D2C55}"/>
                </a:ext>
              </a:extLst>
            </p:cNvPr>
            <p:cNvSpPr/>
            <p:nvPr/>
          </p:nvSpPr>
          <p:spPr>
            <a:xfrm>
              <a:off x="10477500" y="4481036"/>
              <a:ext cx="1905000" cy="1143000"/>
            </a:xfrm>
            <a:prstGeom prst="roundRect">
              <a:avLst>
                <a:gd name="adj" fmla="val 7500"/>
              </a:avLst>
            </a:prstGeom>
            <a:solidFill>
              <a:srgbClr val="E8E0F5"/>
            </a:solidFill>
            <a:ln w="19050">
              <a:solidFill>
                <a:srgbClr val="5E35B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C795CD7D-A026-AA4F-4533-FE953E63D14B}"/>
                </a:ext>
              </a:extLst>
            </p:cNvPr>
            <p:cNvSpPr/>
            <p:nvPr/>
          </p:nvSpPr>
          <p:spPr>
            <a:xfrm>
              <a:off x="10572750" y="4527232"/>
              <a:ext cx="1714500" cy="44672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950" b="1" dirty="0">
                  <a:solidFill>
                    <a:srgbClr val="2E0F6A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Agentic Review</a:t>
              </a:r>
              <a:endParaRPr lang="en-US" sz="1950" dirty="0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CE35CAE5-BBEB-4528-DF9C-C799A6D60328}"/>
                </a:ext>
              </a:extLst>
            </p:cNvPr>
            <p:cNvSpPr/>
            <p:nvPr/>
          </p:nvSpPr>
          <p:spPr>
            <a:xfrm>
              <a:off x="10572750" y="4927759"/>
              <a:ext cx="1714500" cy="632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2E0F6A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Validates evidence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2E0F6A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decides next step</a:t>
              </a:r>
              <a:endParaRPr lang="en-US" sz="1800" dirty="0"/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A6314A42-2E87-0DB4-72A6-343BF2179C8A}"/>
                </a:ext>
              </a:extLst>
            </p:cNvPr>
            <p:cNvSpPr/>
            <p:nvPr/>
          </p:nvSpPr>
          <p:spPr>
            <a:xfrm>
              <a:off x="12763500" y="4481036"/>
              <a:ext cx="1905000" cy="1143000"/>
            </a:xfrm>
            <a:prstGeom prst="roundRect">
              <a:avLst>
                <a:gd name="adj" fmla="val 7500"/>
              </a:avLst>
            </a:prstGeom>
            <a:solidFill>
              <a:srgbClr val="EDE7F6"/>
            </a:solidFill>
            <a:ln w="19050">
              <a:solidFill>
                <a:srgbClr val="7E57C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268F74B3-DC49-9A53-4EE7-F8A05A151602}"/>
                </a:ext>
              </a:extLst>
            </p:cNvPr>
            <p:cNvSpPr/>
            <p:nvPr/>
          </p:nvSpPr>
          <p:spPr>
            <a:xfrm>
              <a:off x="12858749" y="4582954"/>
              <a:ext cx="1714499" cy="48387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950" b="1" dirty="0">
                  <a:solidFill>
                    <a:srgbClr val="3E1F7A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LLM Explain</a:t>
              </a:r>
              <a:endParaRPr lang="en-US" sz="1950" dirty="0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9927C18F-3F3B-460C-FD34-C29040F895C3}"/>
                </a:ext>
              </a:extLst>
            </p:cNvPr>
            <p:cNvSpPr/>
            <p:nvPr/>
          </p:nvSpPr>
          <p:spPr>
            <a:xfrm>
              <a:off x="12604116" y="4936341"/>
              <a:ext cx="2064384" cy="7896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3E1F7A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Synthesize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3E1F7A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Findings</a:t>
              </a:r>
              <a:endParaRPr lang="en-US" sz="1800" dirty="0"/>
            </a:p>
          </p:txBody>
        </p:sp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1947B1BF-8B31-77C8-C4F7-DF9DB20EFDAC}"/>
                </a:ext>
              </a:extLst>
            </p:cNvPr>
            <p:cNvSpPr/>
            <p:nvPr/>
          </p:nvSpPr>
          <p:spPr>
            <a:xfrm>
              <a:off x="15049500" y="4481036"/>
              <a:ext cx="1905000" cy="1143000"/>
            </a:xfrm>
            <a:prstGeom prst="roundRect">
              <a:avLst>
                <a:gd name="adj" fmla="val 7500"/>
              </a:avLst>
            </a:prstGeom>
            <a:solidFill>
              <a:srgbClr val="E6F4EA"/>
            </a:solidFill>
            <a:ln w="19050">
              <a:solidFill>
                <a:srgbClr val="34A85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442AFE8C-827A-8253-5C2D-BAA709981711}"/>
                </a:ext>
              </a:extLst>
            </p:cNvPr>
            <p:cNvSpPr/>
            <p:nvPr/>
          </p:nvSpPr>
          <p:spPr>
            <a:xfrm>
              <a:off x="15262066" y="4731544"/>
              <a:ext cx="1479868" cy="3352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950" b="1" dirty="0">
                  <a:solidFill>
                    <a:srgbClr val="1A5C2E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Explanation</a:t>
              </a:r>
              <a:endParaRPr lang="en-US" sz="1950" dirty="0"/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66219902-08B2-81BA-AEA9-F061946D6DD9}"/>
                </a:ext>
              </a:extLst>
            </p:cNvPr>
            <p:cNvSpPr/>
            <p:nvPr/>
          </p:nvSpPr>
          <p:spPr>
            <a:xfrm>
              <a:off x="15175864" y="5076349"/>
              <a:ext cx="1652270" cy="3352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1A5C2E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validated report</a:t>
              </a:r>
              <a:endParaRPr lang="en-US" sz="1800" dirty="0"/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0D833C7E-6E78-D484-1A3C-D09FCB9507F8}"/>
                </a:ext>
              </a:extLst>
            </p:cNvPr>
            <p:cNvSpPr/>
            <p:nvPr/>
          </p:nvSpPr>
          <p:spPr>
            <a:xfrm>
              <a:off x="4972050" y="3433286"/>
              <a:ext cx="2171700" cy="3467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800" i="1" dirty="0">
                  <a:solidFill>
                    <a:srgbClr val="9575CD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choose tool</a:t>
              </a:r>
              <a:endParaRPr lang="en-US" sz="1800" dirty="0"/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B515B447-1CD5-AD34-C80B-A533A05DD60A}"/>
                </a:ext>
              </a:extLst>
            </p:cNvPr>
            <p:cNvSpPr/>
            <p:nvPr/>
          </p:nvSpPr>
          <p:spPr>
            <a:xfrm>
              <a:off x="6536061" y="2918258"/>
              <a:ext cx="2943225" cy="3467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800" i="1" dirty="0">
                  <a:solidFill>
                    <a:srgbClr val="B39DDB">
                      <a:alpha val="8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same agent / decision layer</a:t>
              </a:r>
              <a:endParaRPr lang="en-US" sz="1800" dirty="0"/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437C7235-9462-C508-CBED-EDAA08AE1453}"/>
                </a:ext>
              </a:extLst>
            </p:cNvPr>
            <p:cNvSpPr/>
            <p:nvPr/>
          </p:nvSpPr>
          <p:spPr>
            <a:xfrm>
              <a:off x="6887528" y="6919436"/>
              <a:ext cx="4512945" cy="3467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800" i="1" dirty="0">
                  <a:solidFill>
                    <a:srgbClr val="C0392B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If evidence incomplete → run next check</a:t>
              </a:r>
              <a:endParaRPr lang="en-US" sz="1800" dirty="0"/>
            </a:p>
          </p:txBody>
        </p:sp>
      </p:grpSp>
      <p:sp>
        <p:nvSpPr>
          <p:cNvPr id="30" name="Shape 27">
            <a:extLst>
              <a:ext uri="{FF2B5EF4-FFF2-40B4-BE49-F238E27FC236}">
                <a16:creationId xmlns:a16="http://schemas.microsoft.com/office/drawing/2014/main" id="{A5D05477-1577-D997-181A-29BA6E429F80}"/>
              </a:ext>
            </a:extLst>
          </p:cNvPr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0EDBDDA6-4F7C-3E9E-5B5C-F70AAA4BE0EC}"/>
              </a:ext>
            </a:extLst>
          </p:cNvPr>
          <p:cNvSpPr/>
          <p:nvPr/>
        </p:nvSpPr>
        <p:spPr>
          <a:xfrm>
            <a:off x="1028700" y="9848850"/>
            <a:ext cx="60466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Principle: </a:t>
            </a:r>
            <a:r>
              <a:rPr lang="en-US" sz="1800" i="1" dirty="0">
                <a:solidFill>
                  <a:srgbClr val="A8C8D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decides what to check — tools provide proof</a:t>
            </a:r>
            <a:endParaRPr lang="en-US" sz="18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7AD4FD63-27D7-58F5-3AF2-D67CF33769F6}"/>
              </a:ext>
            </a:extLst>
          </p:cNvPr>
          <p:cNvSpPr/>
          <p:nvPr/>
        </p:nvSpPr>
        <p:spPr>
          <a:xfrm>
            <a:off x="15473680" y="9848850"/>
            <a:ext cx="20523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FFFF">
                    <a:alpha val="3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CONFIDENTIAL</a:t>
            </a:r>
            <a:endParaRPr lang="en-US" sz="18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A5B2547E-7FB5-33E1-9C29-7C1828083FC1}"/>
              </a:ext>
            </a:extLst>
          </p:cNvPr>
          <p:cNvSpPr/>
          <p:nvPr/>
        </p:nvSpPr>
        <p:spPr>
          <a:xfrm>
            <a:off x="1" y="4786867"/>
            <a:ext cx="18287999" cy="548936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r>
              <a:rPr lang="en-US" sz="3000" kern="0" spc="252" dirty="0">
                <a:solidFill>
                  <a:schemeClr val="bg1"/>
                </a:solidFill>
                <a:latin typeface="-apple-system" pitchFamily="34" charset="0"/>
                <a:ea typeface="-apple-system" pitchFamily="34" charset="-122"/>
              </a:rPr>
              <a:t>TARGET STATE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758AA15-0D52-BA5E-6E4E-25692F94129A}"/>
              </a:ext>
            </a:extLst>
          </p:cNvPr>
          <p:cNvGrpSpPr/>
          <p:nvPr/>
        </p:nvGrpSpPr>
        <p:grpSpPr>
          <a:xfrm>
            <a:off x="175824" y="2704547"/>
            <a:ext cx="13321948" cy="1248511"/>
            <a:chOff x="1238248" y="4481036"/>
            <a:chExt cx="13321948" cy="1248511"/>
          </a:xfrm>
        </p:grpSpPr>
        <p:sp>
          <p:nvSpPr>
            <p:cNvPr id="38" name="Shape 3">
              <a:extLst>
                <a:ext uri="{FF2B5EF4-FFF2-40B4-BE49-F238E27FC236}">
                  <a16:creationId xmlns:a16="http://schemas.microsoft.com/office/drawing/2014/main" id="{D57A8932-FFF8-C683-4E49-2A62A8D0A588}"/>
                </a:ext>
              </a:extLst>
            </p:cNvPr>
            <p:cNvSpPr/>
            <p:nvPr/>
          </p:nvSpPr>
          <p:spPr>
            <a:xfrm>
              <a:off x="1333500" y="4481036"/>
              <a:ext cx="1905000" cy="1143000"/>
            </a:xfrm>
            <a:prstGeom prst="roundRect">
              <a:avLst>
                <a:gd name="adj" fmla="val 7500"/>
              </a:avLst>
            </a:prstGeom>
            <a:solidFill>
              <a:srgbClr val="DFF0FA"/>
            </a:solidFill>
            <a:ln w="19050">
              <a:solidFill>
                <a:srgbClr val="00AEEF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Text 4">
              <a:extLst>
                <a:ext uri="{FF2B5EF4-FFF2-40B4-BE49-F238E27FC236}">
                  <a16:creationId xmlns:a16="http://schemas.microsoft.com/office/drawing/2014/main" id="{44345C4E-13DE-5E0A-B6FE-BCADFB1B71F6}"/>
                </a:ext>
              </a:extLst>
            </p:cNvPr>
            <p:cNvSpPr/>
            <p:nvPr/>
          </p:nvSpPr>
          <p:spPr>
            <a:xfrm>
              <a:off x="1238248" y="4582953"/>
              <a:ext cx="2000252" cy="8286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950" b="1" dirty="0">
                  <a:solidFill>
                    <a:srgbClr val="004D6E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Logs + User Input</a:t>
              </a:r>
              <a:endParaRPr lang="en-US" sz="1950" dirty="0"/>
            </a:p>
          </p:txBody>
        </p:sp>
        <p:sp>
          <p:nvSpPr>
            <p:cNvPr id="40" name="Text 5">
              <a:extLst>
                <a:ext uri="{FF2B5EF4-FFF2-40B4-BE49-F238E27FC236}">
                  <a16:creationId xmlns:a16="http://schemas.microsoft.com/office/drawing/2014/main" id="{03F3085A-6537-CB43-EFAD-03007F79016D}"/>
                </a:ext>
              </a:extLst>
            </p:cNvPr>
            <p:cNvSpPr/>
            <p:nvPr/>
          </p:nvSpPr>
          <p:spPr>
            <a:xfrm>
              <a:off x="1548924" y="5076349"/>
              <a:ext cx="1474152" cy="3352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004D6E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QA input data</a:t>
              </a:r>
              <a:endParaRPr lang="en-US" sz="1800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2651EB8-55DE-E70C-BDF9-276E30FCFD68}"/>
                </a:ext>
              </a:extLst>
            </p:cNvPr>
            <p:cNvGrpSpPr/>
            <p:nvPr/>
          </p:nvGrpSpPr>
          <p:grpSpPr>
            <a:xfrm>
              <a:off x="4931798" y="4481036"/>
              <a:ext cx="1905000" cy="1143000"/>
              <a:chOff x="5905500" y="4481036"/>
              <a:chExt cx="1905000" cy="1143000"/>
            </a:xfrm>
          </p:grpSpPr>
          <p:sp>
            <p:nvSpPr>
              <p:cNvPr id="53" name="Shape 9">
                <a:extLst>
                  <a:ext uri="{FF2B5EF4-FFF2-40B4-BE49-F238E27FC236}">
                    <a16:creationId xmlns:a16="http://schemas.microsoft.com/office/drawing/2014/main" id="{D9B1D920-A8F9-CC99-CB0C-8BF91C26C672}"/>
                  </a:ext>
                </a:extLst>
              </p:cNvPr>
              <p:cNvSpPr/>
              <p:nvPr/>
            </p:nvSpPr>
            <p:spPr>
              <a:xfrm>
                <a:off x="5905500" y="4481036"/>
                <a:ext cx="1905000" cy="1143000"/>
              </a:xfrm>
              <a:prstGeom prst="roundRect">
                <a:avLst>
                  <a:gd name="adj" fmla="val 7500"/>
                </a:avLst>
              </a:prstGeom>
              <a:solidFill>
                <a:srgbClr val="E3EDF5"/>
              </a:solidFill>
              <a:ln w="19050">
                <a:solidFill>
                  <a:srgbClr val="4A7BA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 10">
                <a:extLst>
                  <a:ext uri="{FF2B5EF4-FFF2-40B4-BE49-F238E27FC236}">
                    <a16:creationId xmlns:a16="http://schemas.microsoft.com/office/drawing/2014/main" id="{FD111C6D-FB9F-563D-EC16-724A2CBEEDA8}"/>
                  </a:ext>
                </a:extLst>
              </p:cNvPr>
              <p:cNvSpPr/>
              <p:nvPr/>
            </p:nvSpPr>
            <p:spPr>
              <a:xfrm>
                <a:off x="6030278" y="4553588"/>
                <a:ext cx="1684971" cy="50863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950" b="1" dirty="0">
                    <a:solidFill>
                      <a:srgbClr val="1A3A5C"/>
                    </a:solidFill>
                    <a:latin typeface="-apple-system" pitchFamily="34" charset="0"/>
                    <a:ea typeface="-apple-system" pitchFamily="34" charset="-122"/>
                    <a:cs typeface="-apple-system" pitchFamily="34" charset="-120"/>
                  </a:rPr>
                  <a:t>Log Parser Tool</a:t>
                </a:r>
                <a:endParaRPr lang="en-US" sz="1950" dirty="0"/>
              </a:p>
            </p:txBody>
          </p:sp>
          <p:sp>
            <p:nvSpPr>
              <p:cNvPr id="55" name="Text 11">
                <a:extLst>
                  <a:ext uri="{FF2B5EF4-FFF2-40B4-BE49-F238E27FC236}">
                    <a16:creationId xmlns:a16="http://schemas.microsoft.com/office/drawing/2014/main" id="{BAFB222F-D70F-C2F8-69AA-DB0A7016BFF5}"/>
                  </a:ext>
                </a:extLst>
              </p:cNvPr>
              <p:cNvSpPr/>
              <p:nvPr/>
            </p:nvSpPr>
            <p:spPr>
              <a:xfrm>
                <a:off x="6030278" y="5064414"/>
                <a:ext cx="1714500" cy="50863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sz="1800" dirty="0">
                    <a:solidFill>
                      <a:srgbClr val="1A3A5C">
                        <a:alpha val="70000"/>
                      </a:srgbClr>
                    </a:solidFill>
                    <a:latin typeface="-apple-system" pitchFamily="34" charset="0"/>
                    <a:ea typeface="-apple-system" pitchFamily="34" charset="-122"/>
                    <a:cs typeface="-apple-system" pitchFamily="34" charset="-120"/>
                  </a:rPr>
                  <a:t>Structures Data</a:t>
                </a:r>
                <a:endParaRPr lang="en-US" sz="1800" dirty="0"/>
              </a:p>
            </p:txBody>
          </p:sp>
        </p:grpSp>
        <p:sp>
          <p:nvSpPr>
            <p:cNvPr id="42" name="Text 14">
              <a:extLst>
                <a:ext uri="{FF2B5EF4-FFF2-40B4-BE49-F238E27FC236}">
                  <a16:creationId xmlns:a16="http://schemas.microsoft.com/office/drawing/2014/main" id="{7311F8D6-5E06-04FF-9BB4-A780000E72E3}"/>
                </a:ext>
              </a:extLst>
            </p:cNvPr>
            <p:cNvSpPr/>
            <p:nvPr/>
          </p:nvSpPr>
          <p:spPr>
            <a:xfrm>
              <a:off x="8286750" y="4927759"/>
              <a:ext cx="1714500" cy="632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endParaRPr lang="en-US" sz="1800" dirty="0"/>
            </a:p>
          </p:txBody>
        </p:sp>
        <p:sp>
          <p:nvSpPr>
            <p:cNvPr id="43" name="Shape 18">
              <a:extLst>
                <a:ext uri="{FF2B5EF4-FFF2-40B4-BE49-F238E27FC236}">
                  <a16:creationId xmlns:a16="http://schemas.microsoft.com/office/drawing/2014/main" id="{8F52ABF4-3682-E925-76F3-5CF71620CBED}"/>
                </a:ext>
              </a:extLst>
            </p:cNvPr>
            <p:cNvSpPr/>
            <p:nvPr/>
          </p:nvSpPr>
          <p:spPr>
            <a:xfrm>
              <a:off x="8464196" y="4484629"/>
              <a:ext cx="1905000" cy="1143000"/>
            </a:xfrm>
            <a:prstGeom prst="roundRect">
              <a:avLst>
                <a:gd name="adj" fmla="val 7500"/>
              </a:avLst>
            </a:prstGeom>
            <a:solidFill>
              <a:srgbClr val="EDE7F6"/>
            </a:solidFill>
            <a:ln w="19050">
              <a:solidFill>
                <a:srgbClr val="7E57C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19">
              <a:extLst>
                <a:ext uri="{FF2B5EF4-FFF2-40B4-BE49-F238E27FC236}">
                  <a16:creationId xmlns:a16="http://schemas.microsoft.com/office/drawing/2014/main" id="{C2965758-4004-E8DC-696F-377B72919DD5}"/>
                </a:ext>
              </a:extLst>
            </p:cNvPr>
            <p:cNvSpPr/>
            <p:nvPr/>
          </p:nvSpPr>
          <p:spPr>
            <a:xfrm>
              <a:off x="8559445" y="4586547"/>
              <a:ext cx="1714499" cy="48387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950" b="1" dirty="0">
                  <a:solidFill>
                    <a:srgbClr val="3E1F7A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LLM Explain</a:t>
              </a:r>
              <a:endParaRPr lang="en-US" sz="1950" dirty="0"/>
            </a:p>
          </p:txBody>
        </p:sp>
        <p:sp>
          <p:nvSpPr>
            <p:cNvPr id="45" name="Text 20">
              <a:extLst>
                <a:ext uri="{FF2B5EF4-FFF2-40B4-BE49-F238E27FC236}">
                  <a16:creationId xmlns:a16="http://schemas.microsoft.com/office/drawing/2014/main" id="{2B54A76A-032B-B8FC-34C4-3F3116AFBFD8}"/>
                </a:ext>
              </a:extLst>
            </p:cNvPr>
            <p:cNvSpPr/>
            <p:nvPr/>
          </p:nvSpPr>
          <p:spPr>
            <a:xfrm>
              <a:off x="8304812" y="4939934"/>
              <a:ext cx="2064384" cy="7896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3E1F7A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Synthesize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3E1F7A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Findings</a:t>
              </a:r>
              <a:endParaRPr lang="en-US" sz="1800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39E946F-6FA2-81F6-C9A4-50BA5113E465}"/>
                </a:ext>
              </a:extLst>
            </p:cNvPr>
            <p:cNvGrpSpPr/>
            <p:nvPr/>
          </p:nvGrpSpPr>
          <p:grpSpPr>
            <a:xfrm>
              <a:off x="12655196" y="4484629"/>
              <a:ext cx="1905000" cy="1143000"/>
              <a:chOff x="10750196" y="4484629"/>
              <a:chExt cx="1905000" cy="1143000"/>
            </a:xfrm>
          </p:grpSpPr>
          <p:sp>
            <p:nvSpPr>
              <p:cNvPr id="50" name="Shape 21">
                <a:extLst>
                  <a:ext uri="{FF2B5EF4-FFF2-40B4-BE49-F238E27FC236}">
                    <a16:creationId xmlns:a16="http://schemas.microsoft.com/office/drawing/2014/main" id="{F7AAB297-F88B-7C83-FFCF-C998CA377B28}"/>
                  </a:ext>
                </a:extLst>
              </p:cNvPr>
              <p:cNvSpPr/>
              <p:nvPr/>
            </p:nvSpPr>
            <p:spPr>
              <a:xfrm>
                <a:off x="10750196" y="4484629"/>
                <a:ext cx="1905000" cy="1143000"/>
              </a:xfrm>
              <a:prstGeom prst="roundRect">
                <a:avLst>
                  <a:gd name="adj" fmla="val 7500"/>
                </a:avLst>
              </a:prstGeom>
              <a:solidFill>
                <a:srgbClr val="E6F4EA"/>
              </a:solidFill>
              <a:ln w="19050">
                <a:solidFill>
                  <a:srgbClr val="34A853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 22">
                <a:extLst>
                  <a:ext uri="{FF2B5EF4-FFF2-40B4-BE49-F238E27FC236}">
                    <a16:creationId xmlns:a16="http://schemas.microsoft.com/office/drawing/2014/main" id="{6821FF46-1FA3-AD2A-3F5B-8BA31E53E8E1}"/>
                  </a:ext>
                </a:extLst>
              </p:cNvPr>
              <p:cNvSpPr/>
              <p:nvPr/>
            </p:nvSpPr>
            <p:spPr>
              <a:xfrm>
                <a:off x="10962762" y="4735137"/>
                <a:ext cx="1479868" cy="3352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20000"/>
              </a:bodyPr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950" b="1" dirty="0">
                    <a:solidFill>
                      <a:srgbClr val="1A5C2E"/>
                    </a:solidFill>
                    <a:latin typeface="-apple-system" pitchFamily="34" charset="0"/>
                    <a:ea typeface="-apple-system" pitchFamily="34" charset="-122"/>
                    <a:cs typeface="-apple-system" pitchFamily="34" charset="-120"/>
                  </a:rPr>
                  <a:t>AI Explanation</a:t>
                </a:r>
                <a:endParaRPr lang="en-US" sz="1950" dirty="0"/>
              </a:p>
            </p:txBody>
          </p:sp>
          <p:sp>
            <p:nvSpPr>
              <p:cNvPr id="52" name="Text 23">
                <a:extLst>
                  <a:ext uri="{FF2B5EF4-FFF2-40B4-BE49-F238E27FC236}">
                    <a16:creationId xmlns:a16="http://schemas.microsoft.com/office/drawing/2014/main" id="{FB637572-C650-7473-CD6E-8B245316E786}"/>
                  </a:ext>
                </a:extLst>
              </p:cNvPr>
              <p:cNvSpPr/>
              <p:nvPr/>
            </p:nvSpPr>
            <p:spPr>
              <a:xfrm>
                <a:off x="10876560" y="5079942"/>
                <a:ext cx="1652270" cy="3352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20000"/>
              </a:bodyPr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sz="1800" dirty="0">
                    <a:solidFill>
                      <a:srgbClr val="1A5C2E">
                        <a:alpha val="70000"/>
                      </a:srgbClr>
                    </a:solidFill>
                    <a:latin typeface="-apple-system" pitchFamily="34" charset="0"/>
                    <a:ea typeface="-apple-system" pitchFamily="34" charset="-122"/>
                    <a:cs typeface="-apple-system" pitchFamily="34" charset="-120"/>
                  </a:rPr>
                  <a:t>Excel report</a:t>
                </a:r>
                <a:endParaRPr lang="en-US" sz="1800" dirty="0"/>
              </a:p>
            </p:txBody>
          </p:sp>
        </p:grp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130AB50-B22C-B61D-D37C-AD752A7F2707}"/>
                </a:ext>
              </a:extLst>
            </p:cNvPr>
            <p:cNvCxnSpPr>
              <a:stCxn id="38" idx="3"/>
              <a:endCxn id="53" idx="1"/>
            </p:cNvCxnSpPr>
            <p:nvPr/>
          </p:nvCxnSpPr>
          <p:spPr>
            <a:xfrm>
              <a:off x="3238500" y="5052536"/>
              <a:ext cx="16932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AE14155-A36A-7E14-22A7-49A7CE7BF1A0}"/>
                </a:ext>
              </a:extLst>
            </p:cNvPr>
            <p:cNvCxnSpPr>
              <a:cxnSpLocks/>
              <a:stCxn id="53" idx="3"/>
              <a:endCxn id="43" idx="1"/>
            </p:cNvCxnSpPr>
            <p:nvPr/>
          </p:nvCxnSpPr>
          <p:spPr>
            <a:xfrm>
              <a:off x="6836798" y="5052536"/>
              <a:ext cx="1627398" cy="35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ADA425F-C112-18EA-25F2-1F39E1F193CF}"/>
                </a:ext>
              </a:extLst>
            </p:cNvPr>
            <p:cNvCxnSpPr>
              <a:stCxn id="43" idx="3"/>
              <a:endCxn id="50" idx="1"/>
            </p:cNvCxnSpPr>
            <p:nvPr/>
          </p:nvCxnSpPr>
          <p:spPr>
            <a:xfrm>
              <a:off x="10369196" y="5056129"/>
              <a:ext cx="228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 1">
            <a:extLst>
              <a:ext uri="{FF2B5EF4-FFF2-40B4-BE49-F238E27FC236}">
                <a16:creationId xmlns:a16="http://schemas.microsoft.com/office/drawing/2014/main" id="{3F552BA3-04A9-1C8A-A62C-B78A0EF5F0C2}"/>
              </a:ext>
            </a:extLst>
          </p:cNvPr>
          <p:cNvSpPr/>
          <p:nvPr/>
        </p:nvSpPr>
        <p:spPr>
          <a:xfrm>
            <a:off x="1" y="1781507"/>
            <a:ext cx="18287999" cy="548936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r>
              <a:rPr lang="en-US" sz="3000" kern="0" spc="252" dirty="0">
                <a:solidFill>
                  <a:schemeClr val="bg1"/>
                </a:solidFill>
                <a:latin typeface="-apple-system" pitchFamily="34" charset="0"/>
                <a:ea typeface="-apple-system" pitchFamily="34" charset="-122"/>
              </a:rPr>
              <a:t>CURRENT STATE</a:t>
            </a:r>
          </a:p>
        </p:txBody>
      </p:sp>
    </p:spTree>
    <p:extLst>
      <p:ext uri="{BB962C8B-B14F-4D97-AF65-F5344CB8AC3E}">
        <p14:creationId xmlns:p14="http://schemas.microsoft.com/office/powerpoint/2010/main" val="3389398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34AD3-7EAF-099B-3D40-11DCF3EF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31A4A8-D3BD-B9EC-C3CA-5C8C3AE1723E}"/>
              </a:ext>
            </a:extLst>
          </p:cNvPr>
          <p:cNvSpPr/>
          <p:nvPr/>
        </p:nvSpPr>
        <p:spPr>
          <a:xfrm>
            <a:off x="0" y="0"/>
            <a:ext cx="18288000" cy="1380172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B15C3F-4B7F-E430-B2E7-383D98037AD1}"/>
              </a:ext>
            </a:extLst>
          </p:cNvPr>
          <p:cNvSpPr/>
          <p:nvPr/>
        </p:nvSpPr>
        <p:spPr>
          <a:xfrm>
            <a:off x="1028700" y="285750"/>
            <a:ext cx="169137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AEE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POC · TARGET ARCHITECTURE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F75A16-D476-B518-9EED-1F61C31137B9}"/>
              </a:ext>
            </a:extLst>
          </p:cNvPr>
          <p:cNvSpPr/>
          <p:nvPr/>
        </p:nvSpPr>
        <p:spPr>
          <a:xfrm>
            <a:off x="1028700" y="609600"/>
            <a:ext cx="16913733" cy="541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450" b="1" kern="0" spc="-22" dirty="0">
                <a:solidFill>
                  <a:srgbClr val="00AEE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POC </a:t>
            </a:r>
            <a:r>
              <a:rPr lang="en-US" sz="3450" b="1" kern="0" spc="-22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Current State: Step by Step Workflow</a:t>
            </a:r>
            <a:endParaRPr lang="en-US" sz="345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D6ED698-F3FE-7B33-52C2-3C49611ECB78}"/>
              </a:ext>
            </a:extLst>
          </p:cNvPr>
          <p:cNvSpPr/>
          <p:nvPr/>
        </p:nvSpPr>
        <p:spPr>
          <a:xfrm>
            <a:off x="7335796" y="2310149"/>
            <a:ext cx="21717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9575C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choose tool</a:t>
            </a:r>
            <a:endParaRPr lang="en-US" sz="18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08463F2E-70B4-39BC-31E0-16A89D5C91DB}"/>
              </a:ext>
            </a:extLst>
          </p:cNvPr>
          <p:cNvSpPr/>
          <p:nvPr/>
        </p:nvSpPr>
        <p:spPr>
          <a:xfrm>
            <a:off x="6529388" y="2728436"/>
            <a:ext cx="294322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B39DDB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same agent / decision layer</a:t>
            </a:r>
            <a:endParaRPr lang="en-US" sz="18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3E53885-37C6-B480-A591-0CA0578F3F6C}"/>
              </a:ext>
            </a:extLst>
          </p:cNvPr>
          <p:cNvSpPr/>
          <p:nvPr/>
        </p:nvSpPr>
        <p:spPr>
          <a:xfrm>
            <a:off x="8674823" y="3384968"/>
            <a:ext cx="451294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C0392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If evidence incomplete → run next check</a:t>
            </a:r>
            <a:endParaRPr lang="en-US" sz="180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F9D92A6C-0CB9-EEEC-CA9F-71C899F05504}"/>
              </a:ext>
            </a:extLst>
          </p:cNvPr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D2D2C790-C72F-801D-E726-CB8080045DAF}"/>
              </a:ext>
            </a:extLst>
          </p:cNvPr>
          <p:cNvSpPr/>
          <p:nvPr/>
        </p:nvSpPr>
        <p:spPr>
          <a:xfrm>
            <a:off x="1028700" y="9848850"/>
            <a:ext cx="60466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Principle: </a:t>
            </a:r>
            <a:r>
              <a:rPr lang="en-US" sz="1800" i="1" dirty="0">
                <a:solidFill>
                  <a:srgbClr val="A8C8D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decides what to check — tools provide proof</a:t>
            </a:r>
            <a:endParaRPr lang="en-US" sz="18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80B1EECF-1DC1-EA80-AB9C-CED863519CAF}"/>
              </a:ext>
            </a:extLst>
          </p:cNvPr>
          <p:cNvSpPr/>
          <p:nvPr/>
        </p:nvSpPr>
        <p:spPr>
          <a:xfrm>
            <a:off x="15473680" y="9848850"/>
            <a:ext cx="20523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FFFF">
                    <a:alpha val="3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CONFIDENTIAL</a:t>
            </a:r>
            <a:endParaRPr lang="en-US" sz="180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AC54DAE-F2FD-DE3F-4242-94B88A88DEEF}"/>
              </a:ext>
            </a:extLst>
          </p:cNvPr>
          <p:cNvGrpSpPr/>
          <p:nvPr/>
        </p:nvGrpSpPr>
        <p:grpSpPr>
          <a:xfrm>
            <a:off x="1238248" y="4481036"/>
            <a:ext cx="13321948" cy="1248511"/>
            <a:chOff x="1238248" y="4481036"/>
            <a:chExt cx="13321948" cy="1248511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88B5D785-3A2B-8ABA-3337-AE75F8E58ECD}"/>
                </a:ext>
              </a:extLst>
            </p:cNvPr>
            <p:cNvSpPr/>
            <p:nvPr/>
          </p:nvSpPr>
          <p:spPr>
            <a:xfrm>
              <a:off x="1333500" y="4481036"/>
              <a:ext cx="1905000" cy="1143000"/>
            </a:xfrm>
            <a:prstGeom prst="roundRect">
              <a:avLst>
                <a:gd name="adj" fmla="val 7500"/>
              </a:avLst>
            </a:prstGeom>
            <a:solidFill>
              <a:srgbClr val="DFF0FA"/>
            </a:solidFill>
            <a:ln w="19050">
              <a:solidFill>
                <a:srgbClr val="00AEEF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BD1B1534-77F9-E334-2505-54ABB9D16E76}"/>
                </a:ext>
              </a:extLst>
            </p:cNvPr>
            <p:cNvSpPr/>
            <p:nvPr/>
          </p:nvSpPr>
          <p:spPr>
            <a:xfrm>
              <a:off x="1238248" y="4582953"/>
              <a:ext cx="2000252" cy="8286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950" b="1" dirty="0">
                  <a:solidFill>
                    <a:srgbClr val="004D6E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Logs + User Input</a:t>
              </a:r>
              <a:endParaRPr lang="en-US" sz="195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43C5782B-1966-F92A-044A-A6048ED20416}"/>
                </a:ext>
              </a:extLst>
            </p:cNvPr>
            <p:cNvSpPr/>
            <p:nvPr/>
          </p:nvSpPr>
          <p:spPr>
            <a:xfrm>
              <a:off x="1548924" y="5076349"/>
              <a:ext cx="1474152" cy="3352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004D6E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QA input data</a:t>
              </a:r>
              <a:endParaRPr lang="en-US" sz="1800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05A37C0-DECD-5713-8D6D-A3ABE1380C22}"/>
                </a:ext>
              </a:extLst>
            </p:cNvPr>
            <p:cNvGrpSpPr/>
            <p:nvPr/>
          </p:nvGrpSpPr>
          <p:grpSpPr>
            <a:xfrm>
              <a:off x="4931798" y="4481036"/>
              <a:ext cx="1905000" cy="1143000"/>
              <a:chOff x="5905500" y="4481036"/>
              <a:chExt cx="1905000" cy="1143000"/>
            </a:xfrm>
          </p:grpSpPr>
          <p:sp>
            <p:nvSpPr>
              <p:cNvPr id="12" name="Shape 9">
                <a:extLst>
                  <a:ext uri="{FF2B5EF4-FFF2-40B4-BE49-F238E27FC236}">
                    <a16:creationId xmlns:a16="http://schemas.microsoft.com/office/drawing/2014/main" id="{B5967C1B-D4F7-D29F-0FE8-8CFE7C4F347E}"/>
                  </a:ext>
                </a:extLst>
              </p:cNvPr>
              <p:cNvSpPr/>
              <p:nvPr/>
            </p:nvSpPr>
            <p:spPr>
              <a:xfrm>
                <a:off x="5905500" y="4481036"/>
                <a:ext cx="1905000" cy="1143000"/>
              </a:xfrm>
              <a:prstGeom prst="roundRect">
                <a:avLst>
                  <a:gd name="adj" fmla="val 7500"/>
                </a:avLst>
              </a:prstGeom>
              <a:solidFill>
                <a:srgbClr val="E3EDF5"/>
              </a:solidFill>
              <a:ln w="19050">
                <a:solidFill>
                  <a:srgbClr val="4A7BA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10">
                <a:extLst>
                  <a:ext uri="{FF2B5EF4-FFF2-40B4-BE49-F238E27FC236}">
                    <a16:creationId xmlns:a16="http://schemas.microsoft.com/office/drawing/2014/main" id="{CA5ABFA3-6C5A-47CD-C70F-A0EDE75A9B47}"/>
                  </a:ext>
                </a:extLst>
              </p:cNvPr>
              <p:cNvSpPr/>
              <p:nvPr/>
            </p:nvSpPr>
            <p:spPr>
              <a:xfrm>
                <a:off x="6030278" y="4553588"/>
                <a:ext cx="1684971" cy="50863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950" b="1" dirty="0">
                    <a:solidFill>
                      <a:srgbClr val="1A3A5C"/>
                    </a:solidFill>
                    <a:latin typeface="-apple-system" pitchFamily="34" charset="0"/>
                    <a:ea typeface="-apple-system" pitchFamily="34" charset="-122"/>
                    <a:cs typeface="-apple-system" pitchFamily="34" charset="-120"/>
                  </a:rPr>
                  <a:t>Log Parser Tool</a:t>
                </a:r>
                <a:endParaRPr lang="en-US" sz="1950" dirty="0"/>
              </a:p>
            </p:txBody>
          </p:sp>
          <p:sp>
            <p:nvSpPr>
              <p:cNvPr id="14" name="Text 11">
                <a:extLst>
                  <a:ext uri="{FF2B5EF4-FFF2-40B4-BE49-F238E27FC236}">
                    <a16:creationId xmlns:a16="http://schemas.microsoft.com/office/drawing/2014/main" id="{6DA8B782-5AFE-B68A-8ADC-7FFF7B3B2668}"/>
                  </a:ext>
                </a:extLst>
              </p:cNvPr>
              <p:cNvSpPr/>
              <p:nvPr/>
            </p:nvSpPr>
            <p:spPr>
              <a:xfrm>
                <a:off x="6030278" y="5064414"/>
                <a:ext cx="1714500" cy="50863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sz="1800" dirty="0">
                    <a:solidFill>
                      <a:srgbClr val="1A3A5C">
                        <a:alpha val="70000"/>
                      </a:srgbClr>
                    </a:solidFill>
                    <a:latin typeface="-apple-system" pitchFamily="34" charset="0"/>
                    <a:ea typeface="-apple-system" pitchFamily="34" charset="-122"/>
                    <a:cs typeface="-apple-system" pitchFamily="34" charset="-120"/>
                  </a:rPr>
                  <a:t>Structures Data</a:t>
                </a:r>
                <a:endParaRPr lang="en-US" sz="1800" dirty="0"/>
              </a:p>
            </p:txBody>
          </p:sp>
        </p:grp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FFB2EB23-47D1-4F35-6D40-99D1FB433D98}"/>
                </a:ext>
              </a:extLst>
            </p:cNvPr>
            <p:cNvSpPr/>
            <p:nvPr/>
          </p:nvSpPr>
          <p:spPr>
            <a:xfrm>
              <a:off x="8286750" y="4927759"/>
              <a:ext cx="1714500" cy="632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endParaRPr lang="en-US" sz="1800" dirty="0"/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DB751FAC-C2E7-0A1C-77A5-060769360DAE}"/>
                </a:ext>
              </a:extLst>
            </p:cNvPr>
            <p:cNvSpPr/>
            <p:nvPr/>
          </p:nvSpPr>
          <p:spPr>
            <a:xfrm>
              <a:off x="8464196" y="4484629"/>
              <a:ext cx="1905000" cy="1143000"/>
            </a:xfrm>
            <a:prstGeom prst="roundRect">
              <a:avLst>
                <a:gd name="adj" fmla="val 7500"/>
              </a:avLst>
            </a:prstGeom>
            <a:solidFill>
              <a:srgbClr val="EDE7F6"/>
            </a:solidFill>
            <a:ln w="19050">
              <a:solidFill>
                <a:srgbClr val="7E57C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2FDE9C2B-95D2-98BD-215E-D90281735767}"/>
                </a:ext>
              </a:extLst>
            </p:cNvPr>
            <p:cNvSpPr/>
            <p:nvPr/>
          </p:nvSpPr>
          <p:spPr>
            <a:xfrm>
              <a:off x="8559445" y="4586547"/>
              <a:ext cx="1714499" cy="48387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950" b="1" dirty="0">
                  <a:solidFill>
                    <a:srgbClr val="3E1F7A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LLM Explain</a:t>
              </a:r>
              <a:endParaRPr lang="en-US" sz="1950" dirty="0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0BC82315-8ED5-BBA8-6900-CFDA2702853B}"/>
                </a:ext>
              </a:extLst>
            </p:cNvPr>
            <p:cNvSpPr/>
            <p:nvPr/>
          </p:nvSpPr>
          <p:spPr>
            <a:xfrm>
              <a:off x="8304812" y="4939934"/>
              <a:ext cx="2064384" cy="7896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3E1F7A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Synthesize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800" dirty="0">
                  <a:solidFill>
                    <a:srgbClr val="3E1F7A">
                      <a:alpha val="70000"/>
                    </a:srgbClr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Findings</a:t>
              </a:r>
              <a:endParaRPr lang="en-US" sz="1800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EFF28C6-D722-6ECE-8239-4E0CC900726D}"/>
                </a:ext>
              </a:extLst>
            </p:cNvPr>
            <p:cNvGrpSpPr/>
            <p:nvPr/>
          </p:nvGrpSpPr>
          <p:grpSpPr>
            <a:xfrm>
              <a:off x="12655196" y="4484629"/>
              <a:ext cx="1905000" cy="1143000"/>
              <a:chOff x="10750196" y="4484629"/>
              <a:chExt cx="1905000" cy="1143000"/>
            </a:xfrm>
          </p:grpSpPr>
          <p:sp>
            <p:nvSpPr>
              <p:cNvPr id="24" name="Shape 21">
                <a:extLst>
                  <a:ext uri="{FF2B5EF4-FFF2-40B4-BE49-F238E27FC236}">
                    <a16:creationId xmlns:a16="http://schemas.microsoft.com/office/drawing/2014/main" id="{22439C70-C0EE-64B2-166F-B5C3866E3648}"/>
                  </a:ext>
                </a:extLst>
              </p:cNvPr>
              <p:cNvSpPr/>
              <p:nvPr/>
            </p:nvSpPr>
            <p:spPr>
              <a:xfrm>
                <a:off x="10750196" y="4484629"/>
                <a:ext cx="1905000" cy="1143000"/>
              </a:xfrm>
              <a:prstGeom prst="roundRect">
                <a:avLst>
                  <a:gd name="adj" fmla="val 7500"/>
                </a:avLst>
              </a:prstGeom>
              <a:solidFill>
                <a:srgbClr val="E6F4EA"/>
              </a:solidFill>
              <a:ln w="19050">
                <a:solidFill>
                  <a:srgbClr val="34A853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 22">
                <a:extLst>
                  <a:ext uri="{FF2B5EF4-FFF2-40B4-BE49-F238E27FC236}">
                    <a16:creationId xmlns:a16="http://schemas.microsoft.com/office/drawing/2014/main" id="{3FA2B5F9-CF34-B86A-3142-432C5E200E04}"/>
                  </a:ext>
                </a:extLst>
              </p:cNvPr>
              <p:cNvSpPr/>
              <p:nvPr/>
            </p:nvSpPr>
            <p:spPr>
              <a:xfrm>
                <a:off x="10962762" y="4735137"/>
                <a:ext cx="1479868" cy="3352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20000"/>
              </a:bodyPr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950" b="1" dirty="0">
                    <a:solidFill>
                      <a:srgbClr val="1A5C2E"/>
                    </a:solidFill>
                    <a:latin typeface="-apple-system" pitchFamily="34" charset="0"/>
                    <a:ea typeface="-apple-system" pitchFamily="34" charset="-122"/>
                    <a:cs typeface="-apple-system" pitchFamily="34" charset="-120"/>
                  </a:rPr>
                  <a:t>AI Explanation</a:t>
                </a:r>
                <a:endParaRPr lang="en-US" sz="1950" dirty="0"/>
              </a:p>
            </p:txBody>
          </p:sp>
          <p:sp>
            <p:nvSpPr>
              <p:cNvPr id="26" name="Text 23">
                <a:extLst>
                  <a:ext uri="{FF2B5EF4-FFF2-40B4-BE49-F238E27FC236}">
                    <a16:creationId xmlns:a16="http://schemas.microsoft.com/office/drawing/2014/main" id="{D4EE2355-DEC9-FC01-A552-9256CA4B35A6}"/>
                  </a:ext>
                </a:extLst>
              </p:cNvPr>
              <p:cNvSpPr/>
              <p:nvPr/>
            </p:nvSpPr>
            <p:spPr>
              <a:xfrm>
                <a:off x="10876560" y="5079942"/>
                <a:ext cx="1652270" cy="3352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20000"/>
              </a:bodyPr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sz="1800" dirty="0">
                    <a:solidFill>
                      <a:srgbClr val="1A5C2E">
                        <a:alpha val="70000"/>
                      </a:srgbClr>
                    </a:solidFill>
                    <a:latin typeface="-apple-system" pitchFamily="34" charset="0"/>
                    <a:ea typeface="-apple-system" pitchFamily="34" charset="-122"/>
                    <a:cs typeface="-apple-system" pitchFamily="34" charset="-120"/>
                  </a:rPr>
                  <a:t>Excel report</a:t>
                </a:r>
                <a:endParaRPr lang="en-US" sz="1800" dirty="0"/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89DD62B-D130-28AB-E709-A6EDBE8AEDFE}"/>
                </a:ext>
              </a:extLst>
            </p:cNvPr>
            <p:cNvCxnSpPr>
              <a:stCxn id="6" idx="3"/>
              <a:endCxn id="12" idx="1"/>
            </p:cNvCxnSpPr>
            <p:nvPr/>
          </p:nvCxnSpPr>
          <p:spPr>
            <a:xfrm>
              <a:off x="3238500" y="5052536"/>
              <a:ext cx="16932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6D47C06-9ADF-604D-A72E-086BC893413D}"/>
                </a:ext>
              </a:extLst>
            </p:cNvPr>
            <p:cNvCxnSpPr>
              <a:cxnSpLocks/>
              <a:stCxn id="12" idx="3"/>
              <a:endCxn id="21" idx="1"/>
            </p:cNvCxnSpPr>
            <p:nvPr/>
          </p:nvCxnSpPr>
          <p:spPr>
            <a:xfrm>
              <a:off x="6836798" y="5052536"/>
              <a:ext cx="1627398" cy="35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D4DA051-3B13-60F1-140D-E642F0C66C90}"/>
                </a:ext>
              </a:extLst>
            </p:cNvPr>
            <p:cNvCxnSpPr>
              <a:stCxn id="21" idx="3"/>
              <a:endCxn id="24" idx="1"/>
            </p:cNvCxnSpPr>
            <p:nvPr/>
          </p:nvCxnSpPr>
          <p:spPr>
            <a:xfrm>
              <a:off x="10369196" y="5056129"/>
              <a:ext cx="228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5813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80172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8700" y="285750"/>
            <a:ext cx="169137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AEE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POC · TARGET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8700" y="609600"/>
            <a:ext cx="16913733" cy="541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450" b="1" kern="0" spc="-22" dirty="0">
                <a:solidFill>
                  <a:srgbClr val="00AEE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POC </a:t>
            </a:r>
            <a:r>
              <a:rPr lang="en-US" sz="3450" b="1" kern="0" spc="-22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Target State: Agentic Validation Workflow</a:t>
            </a:r>
            <a:endParaRPr lang="en-US" sz="3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2480786"/>
            <a:ext cx="16192500" cy="609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33500" y="4481036"/>
            <a:ext cx="1905000" cy="1143000"/>
          </a:xfrm>
          <a:prstGeom prst="roundRect">
            <a:avLst>
              <a:gd name="adj" fmla="val 7500"/>
            </a:avLst>
          </a:prstGeom>
          <a:solidFill>
            <a:srgbClr val="DFF0FA"/>
          </a:solidFill>
          <a:ln w="1905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238248" y="4582953"/>
            <a:ext cx="2000252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04D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Logs + User Input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548924" y="5076349"/>
            <a:ext cx="147415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004D6E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QA input data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619500" y="4481036"/>
            <a:ext cx="1905000" cy="1143000"/>
          </a:xfrm>
          <a:prstGeom prst="roundRect">
            <a:avLst>
              <a:gd name="adj" fmla="val 7500"/>
            </a:avLst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921601" y="4582954"/>
            <a:ext cx="130079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E1F7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Agentic AI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3714750" y="4927759"/>
            <a:ext cx="17145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E1F7A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plans and selects checks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905500" y="4481036"/>
            <a:ext cx="1905000" cy="1143000"/>
          </a:xfrm>
          <a:prstGeom prst="roundRect">
            <a:avLst>
              <a:gd name="adj" fmla="val 7500"/>
            </a:avLst>
          </a:prstGeom>
          <a:solidFill>
            <a:srgbClr val="E3EDF5"/>
          </a:solidFill>
          <a:ln w="19050">
            <a:solidFill>
              <a:srgbClr val="4A7B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62053" y="4434364"/>
            <a:ext cx="119173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A3A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Tools &amp; Checkers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000750" y="5076349"/>
            <a:ext cx="17145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1A3A5C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deterministic validators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191500" y="4481036"/>
            <a:ext cx="1905000" cy="114300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 w="19050">
            <a:solidFill>
              <a:srgbClr val="789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14397" y="4829651"/>
            <a:ext cx="116395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2C3E5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Evidence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8286750" y="4927759"/>
            <a:ext cx="17145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477500" y="4481036"/>
            <a:ext cx="1905000" cy="1143000"/>
          </a:xfrm>
          <a:prstGeom prst="roundRect">
            <a:avLst>
              <a:gd name="adj" fmla="val 7500"/>
            </a:avLst>
          </a:prstGeom>
          <a:solidFill>
            <a:srgbClr val="E8E0F5"/>
          </a:solidFill>
          <a:ln w="1905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572750" y="4527232"/>
            <a:ext cx="1714500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2E0F6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Agentic Review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10572750" y="4927759"/>
            <a:ext cx="171450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E0F6A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Validates evidence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E0F6A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decides next step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2763500" y="4481036"/>
            <a:ext cx="1905000" cy="1143000"/>
          </a:xfrm>
          <a:prstGeom prst="roundRect">
            <a:avLst>
              <a:gd name="adj" fmla="val 7500"/>
            </a:avLst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2858749" y="4582954"/>
            <a:ext cx="1714499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E1F7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Explain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2604116" y="4936341"/>
            <a:ext cx="2064384" cy="78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E1F7A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Synthesize 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E1F7A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Findings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5049500" y="4481036"/>
            <a:ext cx="1905000" cy="1143000"/>
          </a:xfrm>
          <a:prstGeom prst="roundRect">
            <a:avLst>
              <a:gd name="adj" fmla="val 7500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5262066" y="4731544"/>
            <a:ext cx="147986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A5C2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Explanation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15175864" y="5076349"/>
            <a:ext cx="165227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1A5C2E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validated report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972050" y="3433286"/>
            <a:ext cx="21717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9575C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choose tool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529388" y="2728436"/>
            <a:ext cx="294322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B39DDB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same agent / decision layer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87528" y="6919436"/>
            <a:ext cx="451294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C0392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If evidence incomplete → run next check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28700" y="9848850"/>
            <a:ext cx="60466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Principle: </a:t>
            </a:r>
            <a:r>
              <a:rPr lang="en-US" sz="1800" i="1" dirty="0">
                <a:solidFill>
                  <a:srgbClr val="A8C8D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decides what to check — tools provide proof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5473680" y="9848850"/>
            <a:ext cx="20523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FFFF">
                    <a:alpha val="3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CONFIDENTIAL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505</Words>
  <Application>Microsoft Office PowerPoint</Application>
  <PresentationFormat>Custom</PresentationFormat>
  <Paragraphs>144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-apple-system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 Paul Syriopoulos</cp:lastModifiedBy>
  <cp:revision>15</cp:revision>
  <dcterms:created xsi:type="dcterms:W3CDTF">2026-04-29T16:49:19Z</dcterms:created>
  <dcterms:modified xsi:type="dcterms:W3CDTF">2026-04-29T19:36:50Z</dcterms:modified>
</cp:coreProperties>
</file>